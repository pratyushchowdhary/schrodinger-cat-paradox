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31f894e94e4087" /><Relationship Type="http://schemas.openxmlformats.org/officeDocument/2006/relationships/extended-properties" Target="/docProps/app.xml" Id="Rf29cf154d6484e7a" /><Relationship Type="http://schemas.openxmlformats.org/officeDocument/2006/relationships/officeDocument" Target="/ppt/presentation.xml" Id="R4df39768dbe1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aa593395b44fee"/>
  </p:sldMasterIdLst>
  <p:notesMasterIdLst>
    <p:notesMasterId xmlns:r="http://schemas.openxmlformats.org/officeDocument/2006/relationships" r:id="R36ed3cf049d74a28"/>
  </p:notesMasterIdLst>
  <p:sldIdLst>
    <p:sldId xmlns:r="http://schemas.openxmlformats.org/officeDocument/2006/relationships" id="256" r:id="R950b2d398e69415e"/>
    <p:sldId xmlns:r="http://schemas.openxmlformats.org/officeDocument/2006/relationships" id="257" r:id="R940e8e4229564c9e"/>
    <p:sldId xmlns:r="http://schemas.openxmlformats.org/officeDocument/2006/relationships" id="258" r:id="R926ce445ea4f46eb"/>
    <p:sldId xmlns:r="http://schemas.openxmlformats.org/officeDocument/2006/relationships" id="259" r:id="R0a013df03550479e"/>
    <p:sldId xmlns:r="http://schemas.openxmlformats.org/officeDocument/2006/relationships" id="260" r:id="Rcd4ab49011e842ce"/>
    <p:sldId xmlns:r="http://schemas.openxmlformats.org/officeDocument/2006/relationships" id="261" r:id="R4de52de472c24e70"/>
    <p:sldId xmlns:r="http://schemas.openxmlformats.org/officeDocument/2006/relationships" id="262" r:id="R4c2599ae5b2f431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aa593395b44fee" /><Relationship Type="http://schemas.openxmlformats.org/officeDocument/2006/relationships/theme" Target="/ppt/theme/theme1.xml" Id="R12bfc99fe8604f67" /><Relationship Type="http://schemas.openxmlformats.org/officeDocument/2006/relationships/notesMaster" Target="/ppt/notesMasters/notesMaster1.xml" Id="R36ed3cf049d74a28" /><Relationship Type="http://schemas.openxmlformats.org/officeDocument/2006/relationships/presProps" Target="/ppt/presProps.xml" Id="R63b663a0ef494192" /><Relationship Type="http://schemas.openxmlformats.org/officeDocument/2006/relationships/viewProps" Target="/ppt/viewProps.xml" Id="Raddd275c0f424c5f" /><Relationship Type="http://schemas.openxmlformats.org/officeDocument/2006/relationships/tableStyles" Target="/ppt/tableStyles.xml" Id="Rfdde0367c66445cd" /><Relationship Type="http://schemas.openxmlformats.org/officeDocument/2006/relationships/slide" Target="/ppt/slides/slide1.xml" Id="R950b2d398e69415e" /><Relationship Type="http://schemas.openxmlformats.org/officeDocument/2006/relationships/slide" Target="/ppt/slides/slide2.xml" Id="R940e8e4229564c9e" /><Relationship Type="http://schemas.openxmlformats.org/officeDocument/2006/relationships/slide" Target="/ppt/slides/slide3.xml" Id="R926ce445ea4f46eb" /><Relationship Type="http://schemas.openxmlformats.org/officeDocument/2006/relationships/slide" Target="/ppt/slides/slide4.xml" Id="R0a013df03550479e" /><Relationship Type="http://schemas.openxmlformats.org/officeDocument/2006/relationships/slide" Target="/ppt/slides/slide5.xml" Id="Rcd4ab49011e842ce" /><Relationship Type="http://schemas.openxmlformats.org/officeDocument/2006/relationships/slide" Target="/ppt/slides/slide6.xml" Id="R4de52de472c24e70" /><Relationship Type="http://schemas.openxmlformats.org/officeDocument/2006/relationships/slide" Target="/ppt/slides/slide7.xml" Id="R4c2599ae5b2f43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b20733ee6d2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7811a4274e444d" /><Relationship Type="http://schemas.openxmlformats.org/officeDocument/2006/relationships/notesMaster" Target="/ppt/notesMasters/notesMaster1.xml" Id="Rd4a962938870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ed3ea01a1c4d07" /><Relationship Type="http://schemas.openxmlformats.org/officeDocument/2006/relationships/notesMaster" Target="/ppt/notesMasters/notesMaster1.xml" Id="R8a5cd75895294c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dd2cb6ed414763" /><Relationship Type="http://schemas.openxmlformats.org/officeDocument/2006/relationships/notesMaster" Target="/ppt/notesMasters/notesMaster1.xml" Id="R6864eb8addc249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9fdf1b2bb4ccb" /><Relationship Type="http://schemas.openxmlformats.org/officeDocument/2006/relationships/notesMaster" Target="/ppt/notesMasters/notesMaster1.xml" Id="Rf7e5937644df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393f04c9e3459b" /><Relationship Type="http://schemas.openxmlformats.org/officeDocument/2006/relationships/notesMaster" Target="/ppt/notesMasters/notesMaster1.xml" Id="Rfbec9c7bd16a48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a4e3a357c94a21" /><Relationship Type="http://schemas.openxmlformats.org/officeDocument/2006/relationships/notesMaster" Target="/ppt/notesMasters/notesMaster1.xml" Id="R3c26efd28c8b49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17e3ef511441af" /><Relationship Type="http://schemas.openxmlformats.org/officeDocument/2006/relationships/notesMaster" Target="/ppt/notesMasters/notesMaster1.xml" Id="R58cfa6736a2b41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e2dfcdbb7e42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7f712dca6d44ec5" /><Relationship Type="http://schemas.openxmlformats.org/officeDocument/2006/relationships/slideLayout" Target="/ppt/slideLayouts/slideLayout2.xml" Id="R4a7e17473d074b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7e17473d074b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bb434336244989" /><Relationship Type="http://schemas.openxmlformats.org/officeDocument/2006/relationships/notesSlide" Target="/ppt/notesSlides/notesSlide1.xml" Id="R66f27be34828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237123e9214d4e" /><Relationship Type="http://schemas.openxmlformats.org/officeDocument/2006/relationships/notesSlide" Target="/ppt/notesSlides/notesSlide2.xml" Id="R8a2ebe3ccb464c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69199b4bb047c6" /><Relationship Type="http://schemas.openxmlformats.org/officeDocument/2006/relationships/notesSlide" Target="/ppt/notesSlides/notesSlide3.xml" Id="Rc6b6211e7baa45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38d7ab2a1a4b1d" /><Relationship Type="http://schemas.openxmlformats.org/officeDocument/2006/relationships/notesSlide" Target="/ppt/notesSlides/notesSlide4.xml" Id="Rc997597b0815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e50d2f5e8d422f" /><Relationship Type="http://schemas.openxmlformats.org/officeDocument/2006/relationships/notesSlide" Target="/ppt/notesSlides/notesSlide5.xml" Id="Rbc72d4420dd54c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2acb1e09d54e66" /><Relationship Type="http://schemas.openxmlformats.org/officeDocument/2006/relationships/notesSlide" Target="/ppt/notesSlides/notesSlide6.xml" Id="Rf6ee6d70951846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f7aad59914626" /><Relationship Type="http://schemas.openxmlformats.org/officeDocument/2006/relationships/notesSlide" Target="/ppt/notesSlides/notesSlide7.xml" Id="Ref17ac64f85749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FB193D-325B-49ED-AC09-865782E3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85260-5A41-4A32-B166-E2CECBD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B6BA6-6EFF-47EF-8914-877D0A8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38EA97-4546-452A-B4CA-B521B965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Product Requirements Document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7B7BA-27EA-4F71-8564-56C3173F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 onboarding and compliance platform for a multi-brand FMCG enterprise.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7F13B-299C-4738-8F42-FDD93509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Build one reusable supplier-material profile, clear compliance once, then let internal teams reuse that profile across NourishCo brands.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EAB57-2A85-4891-859A-FF265F26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A04E4B-BA21-4F8C-B47D-F19861C6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DA184-5CAF-4266-8956-ED6066E2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95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Supplier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8381A-AB5B-4632-BE58-D389433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Upload once, parse documents, review extracted profile data, resolve missing items, and submit.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6F973-40CB-4D12-A3A6-D1463427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49A91-E77D-47C4-B9E7-78B6D2EA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3C479-CB72-4149-892B-4687FA0B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495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Compliance Workspace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F7C23C-962F-4145-99D9-4BBD6F33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8100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Own document validation, action queues, renewals, audits, sustainability, and final clearance.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0501D-2F34-4E94-B325-15446C4E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C01E13-9301-4BBB-A8C2-032FD886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95063-B0B7-4219-9B69-876E5E47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95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Procurement 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5E5DE-CE74-4249-9056-8154D3E3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100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Use cleared supplier-material profiles for RFQ readiness, coverage gaps, trials, and sourcing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FEF883-D577-45DB-AFB0-CB607A79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238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7F652B-1788-483C-9FB3-14DE545C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337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6E1FD-D25C-4AFD-BB59-3D358336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95675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AI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B1E75C-9CFD-4540-99D6-D9032F2C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10000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Extract data, detect duplicates, identify blockers, draft summaries, and surface risks. Do not auto-approve.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DAABE-1DE2-4335-A96D-A5B2890E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19700"/>
            <a:ext cx="2038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9525">
            <a:solidFill>
              <a:srgbClr val="E5F6E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E7A55D-CD85-47DA-A561-BA44FA7B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27685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MVP: onboarding + compliance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65DDCB-1E79-4E7E-9280-7F6150C5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219700"/>
            <a:ext cx="1276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6"/>
          </a:solidFill>
          <a:ln xmlns:a="http://schemas.openxmlformats.org/drawingml/2006/main" w="9525">
            <a:solidFill>
              <a:srgbClr val="FFE8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5BA33-783D-46D5-BF4B-97B0172C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276850"/>
            <a:ext cx="1085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C71F1F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C71F1F"/>
                </a:solidFill>
                <a:latin typeface="Aptos"/>
                <a:ea typeface="Aptos"/>
                <a:cs typeface="Aptos"/>
              </a:rPr>
              <a:t>Human approval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9C277B-3C52-4799-8C44-33DF2D7F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219700"/>
            <a:ext cx="1409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C88B71-A935-4B9E-B0F4-DBA8841EF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2F67D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F67D8"/>
                </a:solidFill>
                <a:latin typeface="Aptos"/>
                <a:ea typeface="Aptos"/>
                <a:cs typeface="Aptos"/>
              </a:rPr>
              <a:t>Multi-brand reuse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56CAAC-4C7B-4702-AECE-6DCEFA9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970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993509-F549-40F6-BAA5-3E09A7B4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76850"/>
            <a:ext cx="1676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9A5B00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9A5B00"/>
                </a:solidFill>
                <a:latin typeface="Aptos"/>
                <a:ea typeface="Aptos"/>
                <a:cs typeface="Aptos"/>
              </a:rPr>
              <a:t>Procurement signal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253729-AD84-4774-8C52-FF02672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032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F16542-D0F3-4EC4-AAD6-BAE65F50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15025"/>
            <a:ext cx="952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Product stance: supplier experience stays simple; internal workspaces carry the operational complexity.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725956-D79C-4B40-AE9B-31DEAB22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C8A85F-2ED8-479F-ADA5-7D1E2CF4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E89CB0-7AAC-492B-AD05-555CA02B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91703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E6DF11-820F-43B8-B2C3-C8A53FD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0230A8-DD67-4558-8B85-787297FB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2CF73-4FA2-4968-9F24-23CE7B74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CD856-D5C2-4D48-A980-E20E0DB1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Problem, Goals &amp; Non-Goals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90E34F-C270-4C2D-8627-4ACE3BE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Scope boundaries for the MVP and what the product must prove.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7C83A-86DE-400A-B8F8-A34B1158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148BA5-B3F3-495C-ADA0-7EED8593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476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3C587-3C34-42A3-90FB-C4E9C8D0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Problem Statement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86AE23-0BD2-4995-818F-B3FF60FD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 onboarding is duplicated across brands, documents are scattered, compliance tracking is manual, and leadership lacks visibility into supplier risk and approval bottlenecks.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The result is slow approvals, repeated supplier effort, inconsistent data, and procurement teams unable to reuse valid supplier profiles across brands.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B49F4-96D9-4A0D-9039-089D0839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F0750-4AD9-422D-A41A-A1B5E70B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476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B00ED-4082-4436-A567-77158A51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2002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Goals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20809A-AB58-4949-AF00-B552BFBC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14600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Create a unified supplier registration flow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Enable one supplier profile to support multiple brands/materials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Automate document parsing and compliance tracking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Give compliance teams clear queues, renewals, and audit visibility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Give procurement teams RFQ-ready and blocked sourcing opportunities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Preserve human review for final decisions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2D2414-2031-494E-98E7-1F7207E0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3333750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49E1D-4B5C-4288-8491-DBD24C86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4762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CA4AE-FC89-4577-A3D1-227ED60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0027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Non-Goals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5100A0-54D7-4673-AF7F-48EDC036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14600"/>
            <a:ext cx="29527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Purchase order execution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Invoice/payment processing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Full ERP replacement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Logistics tracking and shipment monitoring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Automated final compliance approval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self-selection of NourishCo brands</a:t>
            </a:r>
          </a:p>
          <a:p xmlns:a="http://schemas.openxmlformats.org/drawingml/2006/main">
            <a:pPr algn="l">
              <a:defRPr sz="907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Fully configurable rule engine for every category/region in 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23D9D-D77D-44B1-8831-F729DFB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10858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9E3C91-DDA0-42EE-B5D1-7B3E936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102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Core tradeoff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8C6A87-CBC8-413A-B2B3-839F20B52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410200"/>
            <a:ext cx="8191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The MVP optimizes for clean intake, compliance clearance, and supplier reuse. Procurement gets visibility and action signals, but downstream buying remains outside scope.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DC927-038F-4868-BFA9-2A7C4465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04650-A1CD-404F-A9F5-EB62F8FC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F8F4E-38C5-4514-A33D-4F81FA73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20245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C3110-1312-424F-933D-E205ECC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01212-EE81-4AFA-AE27-9A15C7EB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D1CA8E-894E-4525-A152-44DDA6CD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B3FB6-0D13-4CE1-BBE5-BA647C21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Key Workflows &amp; User Journeys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70119-22F5-4165-9A2E-4738F3AAB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How supplier intake turns into internal compliance and sourcing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A48F2-2495-4FB1-B2D3-99BFE2CE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7620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E9C482-2495-42BF-A841-A11DA874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28825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SUPPLIER JOURNEY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097EC-CC2D-455A-8AF6-E28003A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7C16C-EEEA-4FE6-87FC-6ABC23D9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82E09-0E75-4AE6-ADAB-A73902D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Start 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62C91-C11E-49C3-B53B-59B6DAF7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 creates account and enters basic business identity.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7418F-A9A6-4EEA-95D1-1BC4BD6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D17E94-ABF7-40F6-864F-805526BD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98487-81E2-4C95-849F-E72E490E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Upload documents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ABCB73-03C6-4643-9576-A8E8EFA6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Bulk upload plus individual prompts for required business, tax, quality, safety, and legal docs.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E2954-73E6-4F67-BAF6-FFCF9799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A37E5E-F76A-4314-A9E4-34B5EA5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7322A8-EAA7-4DB1-9F47-8B20D3C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958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Review &amp; submit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DFBE05-240F-4C3F-8B53-B0208A28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720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Supplier reviews AI-filled profile and resolves missing or unclear items before submission.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2F4074-9C2D-47DB-B3C1-7B3DF624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431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6"/>
          </a:solidFill>
          <a:ln xmlns:a="http://schemas.openxmlformats.org/drawingml/2006/main" w="7620">
            <a:solidFill>
              <a:srgbClr val="C6CE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D8C571-41D3-4844-B226-37E3C727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28825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71F1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71F1F"/>
                </a:solidFill>
                <a:latin typeface="Aptos"/>
                <a:ea typeface="Aptos"/>
                <a:cs typeface="Aptos"/>
              </a:rPr>
              <a:t>COMPLIANCE JOURNEY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6CA3F6-4757-4011-A0EE-85FA5B21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6CE95F-F839-4EC5-AA21-0395B5B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5567E-CDED-4902-B753-28B2EC65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955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Triage queue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4621D-54DA-4904-8EB4-CF47CAB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717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Unreadable, expired, missing, or mismatched documents are routed by severity and owner.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B4E35-A999-4903-9068-106D90D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4A318-D3F8-4EA5-A929-F644DEEE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43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C92CB4-37A4-4310-AB2D-F9F25F2D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957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Clearance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BAF96-F522-4AAC-8D3E-BACBB67D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7192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Reviewer validates documents, records decision trail, and requests fixes when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0BA46-8DC5-4FFE-8462-4AA1FBE6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434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19EF6-9844-48DB-A173-76EEDB97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43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7CB744-8332-4A76-B160-6C5C3FC1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958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Ongoing control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74D261-C507-48A6-9795-ADE88263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720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Renewals, audits, sustainability evidence, and external risk alerts are monitored.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307EEB-EDC6-4101-922B-54D809DF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2209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7620">
            <a:solidFill>
              <a:srgbClr val="C6CE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60C170-745D-4A2D-9B42-DF5623A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28825"/>
            <a:ext cx="194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F67D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67D8"/>
                </a:solidFill>
                <a:latin typeface="Aptos"/>
                <a:ea typeface="Aptos"/>
                <a:cs typeface="Aptos"/>
              </a:rPr>
              <a:t>PROCUREMENT JOURNEY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17225B-963E-4EAF-8880-F76E62EE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AB66B3-E060-410D-BC56-601F229C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431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8D0500-E2E6-4917-87FA-52C1C284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955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Reuse profile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F7BF96-FB86-4BD2-AB88-C1975CFE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717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Cleared supplier-material records become searchable sourcing opportunities.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0066E8-DDB1-4C0E-B6DA-92EAEAF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DD968AD-98FE-45F8-B13A-022B8BFD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2F9888-2779-4312-ACAB-EF61598B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Act on signals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8DA4A6-F476-4502-B1AB-2A5FDCFBF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7192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AI highlights RFQ-ready, low coverage, trial required, renewal due, and blocked opportunities.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A98B12-FA91-46E6-81FE-7C0976C0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2209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61A2124-0341-4E35-AE3E-BF349AD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C573FA-25C9-4F03-A67F-A5F4CAC9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Move to RFQ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2497E8B-6746-494D-8817-56CD7643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72075"/>
            <a:ext cx="18669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Procurement invites cleared suppliers to RFQ or follows up with compliance on blockers.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49176C-D9D7-4B7A-93A6-AC37C6EF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190750" cy="3467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159CD3-B235-4C98-A968-8DFC2DD6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33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Multi-brand reuse example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DA5DF9-6BCA-408D-8FBB-B2D08730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Curcuma longa uploaded once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90A165-79AE-4F75-BA41-C26C8C527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43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9EF532-5015-4CB8-84AC-461A47F7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59645F"/>
                </a:solidFill>
                <a:latin typeface="Aptos"/>
                <a:ea typeface="Aptos"/>
                <a:cs typeface="Aptos"/>
              </a:rPr>
              <a:t>Harvest Bites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B8F620-C4D0-40BF-BEC3-5EBA7EDF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1600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Blocked: allergen declaration missing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48195DE-9C5C-4931-8E75-7BD51687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95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E68739-2CAA-498B-81DD-3DC24076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719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59645F"/>
                </a:solidFill>
                <a:latin typeface="Aptos"/>
                <a:ea typeface="Aptos"/>
                <a:cs typeface="Aptos"/>
              </a:rPr>
              <a:t>DailyGlow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D0D3A3-FC6A-46F2-8205-5828B4D7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924300"/>
            <a:ext cx="1600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Eligible: cosmetic-grade review passed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B6F9D9-BB88-4B77-BA16-6E1B8E01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957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BCE253-B403-41AD-9661-1A014058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4815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59645F"/>
                </a:solidFill>
                <a:latin typeface="Aptos"/>
                <a:ea typeface="Aptos"/>
                <a:cs typeface="Aptos"/>
              </a:rPr>
              <a:t>QuickEats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5AF2262-64EC-4647-85E9-6562AE08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00550"/>
            <a:ext cx="1600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Trial required: batch validation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D84A5B-E038-4F1E-9313-1445186E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720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64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D0DBEA2-6218-408F-B845-004A3D32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24400"/>
            <a:ext cx="14287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1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28" b="1">
                <a:solidFill>
                  <a:srgbClr val="59645F"/>
                </a:solidFill>
                <a:latin typeface="Aptos"/>
                <a:ea typeface="Aptos"/>
                <a:cs typeface="Aptos"/>
              </a:rPr>
              <a:t>EcoPack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8DDCE8B-252C-4015-97E9-F47E2DE4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76800"/>
            <a:ext cx="1600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0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Not applicable: not packaging input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02EEB8-E843-4A99-BFA2-F99F531F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372100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9525">
            <a:solidFill>
              <a:srgbClr val="E5F6E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B66EF-F05D-433C-956E-8AF71201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29250"/>
            <a:ext cx="1504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No duplicate supplier onboarding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10C4102-09A5-4E60-9FDC-FAE611B5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F023CF-2B41-4C25-B94F-853E01B2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3B2EF0-2702-4DF2-9FB8-D741C4EA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1020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2F99DD-16BE-4CB0-A556-37DF545B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443CE-3FC5-4DAE-8CDF-4BFAAA91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75688-372A-4D30-B0F2-96245B594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6D121-798D-433D-8790-626D0B3C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Functional &amp; Non-Functional Requirements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30FBA-E47A-4D72-872B-E95E96A7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What the MVP must support across the three workspaces.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58F4B-148E-4394-B195-8054D287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6F5A5-77A5-46C7-AEB6-650876D7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B2B94-8568-4936-A3D3-3B357411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Supplier Portal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F08191-3CEC-417B-B0B6-346A7286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Account creation and returning supplier login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Bulk and individual document upload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AI parsing progress and confidence states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Review/edit extracted business, location, contact, and supply details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Clear missing/expired/unreadable document prompts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Final confirmation before submission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7D043-06C8-411A-AB62-5DFAE3AF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A26D4-F38D-47E0-9196-0E399191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30D4F-20BD-4620-BF34-F52AA0A8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Compliance Workspace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81654-1E9F-4E7C-9958-92560FF2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register and master profile view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Action needed queue with severity, owner, SLA, and source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New vendor onboarding queue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Renewal/expiry tracking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Audit and sustainability tracker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Reviewer workload and audit trail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A8B05-8282-460D-9FA3-4B210DEC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3429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9F721-2F06-4BE5-A948-DC96F833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4762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F8EA3-ADC0-441E-BFD8-E0EEDA54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Procurement Workspace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4034E4-B6DB-4CD9-92C0-55A67F9D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304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marketplace/search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Sourcing workbench for supplier-material-brand opportunities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RFQ readiness and blocker visibility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Low-coverage material signals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Trial required and renewal due signals</a:t>
            </a:r>
          </a:p>
          <a:p xmlns:a="http://schemas.openxmlformats.org/drawingml/2006/main">
            <a:pPr algn="l">
              <a:defRPr sz="85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Owner-aware actions: RFQ, follow up, request trial, monitor blocker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DA644-3518-4410-9EBC-1755E8A2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109347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810ECB-70B8-45EC-ABB1-C34B5D0D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4762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B59075-6D4F-46F5-85ED-C6415E67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Non-functional requirements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174384-E047-4E2E-BCC3-DC3C3261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09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3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Security and access control • Auditability • Data quality/confidence scoring • Scalable document processing • Configurable rule templates • Search and filtering • Accessibility with non-color-only status indicators • Performance for large supplier/document volumes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97A099-CCBD-46EA-821B-42B06A21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10934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6EA8DA-E096-40B0-ABF4-76BE8D54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Requirement guardrail: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ECECB-3C90-4A1B-AB16-66ED044E0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695950"/>
            <a:ext cx="704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Supplier-facing screens explain actions plainly. Internal screens expose queue ownership, SLA, and risk.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DFEC7B-FD5B-48B3-9022-8AB0853B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6549FE-CD48-445A-8CD3-B15ED712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1FC4A-E528-4C25-8824-6E0FBE6A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79745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8348A-97EA-47B6-9C78-A4497F19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38E33-4871-406A-AF14-47B2AD3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9A3C2-E5CB-4C77-BFAA-44C56365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11C83-392C-4D07-9C75-487166EC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AI-Assisted Workflows &amp; Automations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FF06B-94CA-41E5-B3CA-849B9070D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AI improves speed and visibility, but does not replace accountable human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EFC6A0-927D-43A0-A72A-FCD6B724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D85BF-4BF9-4F25-B8DE-685663FB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49187-CB79-45A7-B4B7-E04E6880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Document parsing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DDCC3-2A52-400A-87CE-7A7970BB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Extract legal name, tax IDs, addresses, license dates, lab report metadata, product specs, and confidence score.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1BB64-B204-4636-ABA1-BDA49264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4D41AB-8E39-41B1-88EE-32804361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43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E5A38-AE7D-448D-BAA3-D9C9502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05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Duplicate detection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4B76-E8FE-41C8-96E1-F92027F0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19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Match supplier identity across existing records using business name, tax ID, address, bank/legal metadata, and contact signals.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ABBA7-94EF-4C46-913A-CA0A91C9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FAE0A0-D86E-40F0-88D7-158CEBCC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F72F7-FE56-41D7-BB8B-E5A7B8A5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48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Compliance gap detection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17E6DF-5087-4DB1-B184-2D1DB04F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Compare uploaded documents against configurable category, geography, and material requirements.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95EEF-FDF3-4E4F-BC5F-04B2FBA1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E4A6B3-F492-45AA-A484-5B22015B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C3D37-DF9C-4B27-ABC2-9439B528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48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Review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6CB1B2-5087-4EF2-8319-1BAD3A6E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2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Draft reviewer-facing summaries: what was found, what is missing, why it matters, and recommended next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9B458-FB6B-4D3C-865F-47DF85F0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0864D-F0F0-449A-B0BB-EA6906B0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78BF9E-451F-4426-827A-FE9386EE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91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Renewal automation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9C1E4F-70E8-4B14-9E26-9CB3E11D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05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Track expiry windows, send reminders, escalate overdue items, and keep a traceable notification history.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7AC2B9-49E2-4D99-A420-ADD78CE5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495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78AFBC-4110-42EE-93D6-4CCB12757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29100"/>
            <a:ext cx="47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4B40F-EFFE-4775-8E46-F9993576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910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Procurement signals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2013C6-6248-428D-8893-7A3DE51D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05350"/>
            <a:ext cx="457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Surface RFQ-ready opportunities, low coverage materials, brand fit, blocked sourcing, external news risk, and capacity changes.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F68BD8-D5FB-4138-8928-DDFB98C4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51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1FF"/>
          </a:solidFill>
          <a:ln xmlns:a="http://schemas.openxmlformats.org/drawingml/2006/main" w="9525">
            <a:solidFill>
              <a:srgbClr val="C6CEC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56AD73-C332-4E8C-BDD8-2A66881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95950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426"/>
                </a:solidFill>
                <a:latin typeface="Aptos"/>
                <a:ea typeface="Aptos"/>
                <a:cs typeface="Aptos"/>
              </a:rPr>
              <a:t>AI boundary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A6323A-91CE-4923-A858-C6551ABF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7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6ED"/>
          </a:solidFill>
          <a:ln xmlns:a="http://schemas.openxmlformats.org/drawingml/2006/main" w="9525">
            <a:solidFill>
              <a:srgbClr val="E5F6E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5D7A7F-220E-476E-9CF5-78129E2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95950"/>
            <a:ext cx="685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2F7D5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F7D55"/>
                </a:solidFill>
                <a:latin typeface="Aptos"/>
                <a:ea typeface="Aptos"/>
                <a:cs typeface="Aptos"/>
              </a:rPr>
              <a:t>Suggest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8B5CCB-48A8-4D0A-96A9-9DF2463F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38800"/>
            <a:ext cx="914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F"/>
          </a:solidFill>
          <a:ln xmlns:a="http://schemas.openxmlformats.org/drawingml/2006/main" w="9525">
            <a:solidFill>
              <a:srgbClr val="E8EE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D2839F-4F88-49CF-BC62-F3ECF0AC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95950"/>
            <a:ext cx="723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2F67D8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2F67D8"/>
                </a:solidFill>
                <a:latin typeface="Aptos"/>
                <a:ea typeface="Aptos"/>
                <a:cs typeface="Aptos"/>
              </a:rPr>
              <a:t>Prioritize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ED6080-92C9-4178-9578-3A753122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638800"/>
            <a:ext cx="723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4"/>
          </a:solidFill>
          <a:ln xmlns:a="http://schemas.openxmlformats.org/drawingml/2006/main" w="9525">
            <a:solidFill>
              <a:srgbClr val="FFF3D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760871-4876-4B04-B9E6-9708814F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56959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9A5B00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9A5B00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6C26A19-AE4A-47C3-9B77-5F3DA28B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3880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8E6"/>
          </a:solidFill>
          <a:ln xmlns:a="http://schemas.openxmlformats.org/drawingml/2006/main" w="9525">
            <a:solidFill>
              <a:srgbClr val="FFE8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DDF0C8-1A21-446E-B767-DC936977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95950"/>
            <a:ext cx="1276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C71F1F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C71F1F"/>
                </a:solidFill>
                <a:latin typeface="Aptos"/>
                <a:ea typeface="Aptos"/>
                <a:cs typeface="Aptos"/>
              </a:rPr>
              <a:t>Never final-approve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26B343-56C5-4609-A1E9-8FA5C8F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05475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Human reviewers remain accountable for compliance clearance and supplier approval.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DC01D2-CF15-4240-8262-61471189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0CBC14-221A-4537-9D80-D40B769A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8257FA-5DBB-4046-89FB-08C96845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76031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2C55EA-398B-4B63-AF66-C174A548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DE6A60-E781-4809-BF43-DD2D7FAF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1444A-CF25-48CC-AE29-1DBB1D85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E4598-7319-4995-A835-6F0431703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MVP Scope, Prioritization &amp; Success Metrics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73B76-68C2-4644-AEF1-258F3BB9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What ships first, why, and how success is measured.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8CAAF-593A-41E1-A3E0-C175EC1B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E5CF9-5BCF-4C51-896E-59E492C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F3EB3-3FBF-45A0-BE79-064A0888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MVP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B5F51F-20CA-4AC2-81E1-A7A1486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1. Supplier registration and document upload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2. AI parsing and supplier review of extracted data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3. Supplier-material profile creation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4. Compliance action queue and reviewer workflow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5. Renewal/expiry tracking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6. Procurement visibility into RFQ-ready and blocked opportunities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7. Basic multi-brand eligibility 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55B7D9-5FA9-4E9B-96AD-61C2B8FC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203BA-F031-487C-9DF3-DA032F37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8120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E8A73-ACB8-485D-AD7B-62A54501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Prioritization Rationale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D5B2C-C5E5-4C75-A5DF-439E6FF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Start where the operational bottleneck is highest: document intake, duplicate supplier identity, compliance clearance, and reusable supplier-material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Procurement screens stay lighter in MVP because they depend on compliance quality. PO execution and payment workflows come later.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99B6AD-8913-4A1D-AA96-96A9BA42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998AEA-8234-4DC5-AE8B-FACFB586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8120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A0AAAB-1C17-4598-A428-A2A2B259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4312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Success Metrics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9520CE-0A41-4179-9923-2BBDBF6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57450"/>
            <a:ext cx="3048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Onboarding cycle time reduction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% documents auto-parsed with high confidence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rework rate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Duplicate supplier profile reduction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Time to compliance decision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Renewal SLA adherence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RFQ-ready opportunities created from existing profiles</a:t>
            </a:r>
          </a:p>
          <a:p xmlns:a="http://schemas.openxmlformats.org/drawingml/2006/main">
            <a:pPr algn="l">
              <a:defRPr sz="885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85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Reviewer backlog and overdue tasks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37A3B-E1F0-473B-BF37-1F5E49C2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109347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7F9A38-0FC8-40C2-AFB8-D9F5BC6F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MVP sequencing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6315B-9655-4911-8C4A-A76C296F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048250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Phase 1: supplier intake + compliance clearance. Phase 2: procurement workbench and AI sourcing signals. Phase 3: ERP/RFQ integrations and deeper rule configurability.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4027E5-8ABE-4737-8234-907730FC1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FFF07-9378-4EAB-A96C-58A39FAB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513564-1C22-4F40-A44A-5E59E519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564881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92A69D-88C2-48BC-80F3-82AD80A0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5B05B-6698-4A10-BA04-49837357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CE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E4E232-9D75-40D9-8E91-F91B1850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63728"/>
                </a:solidFill>
                <a:latin typeface="Aptos Display"/>
                <a:ea typeface="Aptos Display"/>
                <a:cs typeface="Aptos Display"/>
              </a:rPr>
              <a:t>NourishCo PRD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1CC64-25BE-4B86-BE51-B3A9F3F6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933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Stress Cases, Edge Cases &amp; Scalability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71667-6B13-4C33-BA86-06ED4672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952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Where the product must not break under real-world operating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52C10-0B9F-42F9-A043-9E228F4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6D0F3-4CDD-41DD-8F45-34663F19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1F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56027-FCFE-45B9-BD3D-C8AC594B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Operational Edge Cases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E5221-FD83-4A05-80C8-7F0834C1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uploads too many/large files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OCR cannot read a document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License expired or date is ambiguous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name/address mismatch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Same supplier applies under multiple names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needs immediate removal/suspension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Product recall requires item-level flagging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F6FFD-A028-4AB9-9F53-938565D1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BCB0B-7F97-47AA-A3AC-A49DF7B7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621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5B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83F38-F6EC-4AE2-9E86-6403C2B7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Risk &amp; Exception Handling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571B6-3145-4773-8B70-DF39FB8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External news flags malpractice or contamination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Factory fire reduces vendor capacity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Government import rule changes affect packaging materials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Drought/low rainfall affects agricultural inputs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Audit failure triggers corrective action plan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disputes extracted data or compliance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DAFE9D-EA29-42E2-B6A8-5A991F70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34290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74283-D0CA-4E79-8EE1-747B0C84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62150"/>
            <a:ext cx="476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7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747B1-C03C-47F0-88B7-7B332A92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24075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238" b="1">
                <a:solidFill>
                  <a:srgbClr val="101426"/>
                </a:solidFill>
                <a:latin typeface="Aptos Display"/>
                <a:ea typeface="Aptos Display"/>
                <a:cs typeface="Aptos Display"/>
              </a:rPr>
              <a:t>Scalability Considerations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DE5F3-8C76-47A9-824E-C8E7C0AF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38400"/>
            <a:ext cx="30480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Multi-brand and multi-region rule templates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Supplier master and entity resolution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Document versioning and retention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Async parsing queues and retry paths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Role-based permissions and audit logs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API-ready architecture for ERP/procurement tools</a:t>
            </a:r>
          </a:p>
          <a:p xmlns:a="http://schemas.openxmlformats.org/drawingml/2006/main">
            <a:pPr algn="l">
              <a:defRPr sz="863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• Reporting by brand, category, geography, and reviewer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14F2B-463D-460D-BFAC-38AD507B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10934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C6CEC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EAB8B-6E68-4E00-857E-CEC92A2F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6041E-802D-4EFD-B9FD-0BDB6ADD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006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72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3728"/>
                </a:solidFill>
                <a:latin typeface="Aptos"/>
                <a:ea typeface="Aptos"/>
                <a:cs typeface="Aptos"/>
              </a:rPr>
              <a:t>Risk control principle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C5A9E3-1D97-4BD1-B881-404A2840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809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05" b="0">
                <a:solidFill>
                  <a:srgbClr val="101426"/>
                </a:solidFill>
                <a:latin typeface="Aptos"/>
                <a:ea typeface="Aptos"/>
                <a:cs typeface="Aptos"/>
              </a:defRPr>
            </a:pPr>
            <a:r>
              <a:rPr sz="1005" b="0">
                <a:solidFill>
                  <a:srgbClr val="101426"/>
                </a:solidFill>
                <a:latin typeface="Aptos"/>
                <a:ea typeface="Aptos"/>
                <a:cs typeface="Aptos"/>
              </a:rPr>
              <a:t>Automation can identify, route, summarize, and recommend. It should not silently approve suppliers, hide uncertainty, or overwrite source documents. Every high-impact action needs a visible owner, reason, timestamp, and rollback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16198-40D3-4525-AE4B-C2FFC63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CE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941183-1A97-41BF-A8BE-0CF3B65D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6477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Fictional case study. MVP deliberately keeps final approval human-controlled.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A8F23-C03F-4C3B-BA12-DFE955A1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45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45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3558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2026-05-30T21:31:19.4260000Z</dcterms:created>
  <dcterms:modified xsi:type="dcterms:W3CDTF">2026-05-30T21:31:19.4260000Z</dcterms:modified>
</coreProperties>
</file>