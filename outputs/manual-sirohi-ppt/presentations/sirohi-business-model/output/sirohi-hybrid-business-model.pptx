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32f97eaf5d420d" /><Relationship Type="http://schemas.openxmlformats.org/officeDocument/2006/relationships/extended-properties" Target="/docProps/app.xml" Id="Rf698977f9d3345b5" /><Relationship Type="http://schemas.openxmlformats.org/officeDocument/2006/relationships/officeDocument" Target="/ppt/presentation.xml" Id="Ra8768555019f46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4514cb6b5d4211"/>
  </p:sldMasterIdLst>
  <p:notesMasterIdLst>
    <p:notesMasterId xmlns:r="http://schemas.openxmlformats.org/officeDocument/2006/relationships" r:id="R9a518cef73e0405e"/>
  </p:notesMasterIdLst>
  <p:sldIdLst>
    <p:sldId xmlns:r="http://schemas.openxmlformats.org/officeDocument/2006/relationships" id="256" r:id="Re41480979a404d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46746c741142ad" /><Relationship Type="http://schemas.openxmlformats.org/officeDocument/2006/relationships/slideMaster" Target="/ppt/slideMasters/slideMaster1.xml" Id="Rd84514cb6b5d4211" /><Relationship Type="http://schemas.openxmlformats.org/officeDocument/2006/relationships/notesMaster" Target="/ppt/notesMasters/notesMaster1.xml" Id="R9a518cef73e0405e" /><Relationship Type="http://schemas.openxmlformats.org/officeDocument/2006/relationships/presProps" Target="/ppt/presProps.xml" Id="Rc5754297d8fa420f" /><Relationship Type="http://schemas.openxmlformats.org/officeDocument/2006/relationships/viewProps" Target="/ppt/viewProps.xml" Id="Rdb14ffa6309c4b1a" /><Relationship Type="http://schemas.openxmlformats.org/officeDocument/2006/relationships/tableStyles" Target="/ppt/tableStyles.xml" Id="Rec3f7f1ea55445e4" /><Relationship Type="http://schemas.openxmlformats.org/officeDocument/2006/relationships/slide" Target="/ppt/slides/slide1.xml" Id="Re41480979a404d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1e76b31a5846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8118e966544547" /><Relationship Type="http://schemas.openxmlformats.org/officeDocument/2006/relationships/notesMaster" Target="/ppt/notesMasters/notesMaster1.xml" Id="Rbf51f4aa80a24f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0bd264be2548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d1439a0a0244af" /><Relationship Type="http://schemas.openxmlformats.org/officeDocument/2006/relationships/slideLayout" Target="/ppt/slideLayouts/slideLayout1.xml" Id="R6a95b042d00f4d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95b042d00f4d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40b70dcca410b" /><Relationship Type="http://schemas.openxmlformats.org/officeDocument/2006/relationships/notesSlide" Target="/ppt/notesSlides/notesSlide1.xml" Id="Re63b57ffb35546d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CEA2C0-BD25-4A95-B23C-E4E9E223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A0204-84C9-45C6-A7C8-41C0780E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050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126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23126"/>
                </a:solidFill>
                <a:latin typeface="Aptos Display"/>
                <a:ea typeface="Aptos Display"/>
                <a:cs typeface="Aptos Display"/>
              </a:rPr>
              <a:t>SIROHI HYBRID BUSINESS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ED78D-5CA1-483C-923B-0B4D8076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5245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65D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3665D"/>
                </a:solidFill>
                <a:latin typeface="Aptos Display"/>
                <a:ea typeface="Aptos Display"/>
                <a:cs typeface="Aptos Display"/>
              </a:rPr>
              <a:t>Two entities. One purpose. Sustainable livelihoods for women artisans.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C2BD3-A0AF-4142-BF90-25CD6C00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28600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231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23126"/>
                </a:solidFill>
                <a:latin typeface="Aptos Display"/>
                <a:ea typeface="Aptos Display"/>
                <a:cs typeface="Aptos Display"/>
              </a:rPr>
              <a:t>SIROHI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6D7EB-716C-40CD-8EE3-90FE402A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33400"/>
            <a:ext cx="1676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3665D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53665D"/>
                </a:solidFill>
                <a:latin typeface="Aptos Display"/>
                <a:ea typeface="Aptos Display"/>
                <a:cs typeface="Aptos Display"/>
              </a:rPr>
              <a:t>MADE BY WOMEN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7D8DE-AA5B-48C5-B404-2B05EA92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895350"/>
            <a:ext cx="2571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557044"/>
          </a:solidFill>
          <a:ln xmlns:a="http://schemas.openxmlformats.org/drawingml/2006/main" w="0">
            <a:solidFill>
              <a:srgbClr val="5570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A39BA-C4DC-4668-8DF8-D7A991BA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962025"/>
            <a:ext cx="2343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SIROHI FOUNDATION (NPO)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9DF55-D00A-4377-991E-C29296F6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181100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Inclusion &amp; Capability Building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06022-F527-4611-91F7-B2A84565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895350"/>
            <a:ext cx="2952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9C2E3D"/>
          </a:solidFill>
          <a:ln xmlns:a="http://schemas.openxmlformats.org/drawingml/2006/main" w="0">
            <a:solidFill>
              <a:srgbClr val="9C2E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26195-3632-4AE6-852D-E5C5C4DF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62025"/>
            <a:ext cx="2724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SIROHI FURNITURE PVT. LTD. (SFPL)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AC50C-ECA7-4839-9570-4C533319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811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Commercial Arm (For-Profit)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0C7E3-12B4-4B30-AB43-9B636CDE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24000"/>
            <a:ext cx="1600200" cy="35623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70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92023-B87A-4A66-BC20-4EF1E9A4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0020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5704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57044"/>
                </a:solidFill>
                <a:latin typeface="Aptos Display"/>
                <a:ea typeface="Aptos Display"/>
                <a:cs typeface="Aptos Display"/>
              </a:rPr>
              <a:t>FOUNDATION ROLE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0AD961-BECC-4288-95F3-AFBD1A43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47850"/>
            <a:ext cx="14478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• Identify &amp; mobilise women artisans from rural and underserved communities</a:t>
            </a:r>
          </a:p>
          <a:p xmlns:a="http://schemas.openxmlformats.org/drawingml/2006/main">
            <a:pPr algn="l">
              <a:defRPr sz="690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• Provide design, craft &amp; technical training</a:t>
            </a:r>
          </a:p>
          <a:p xmlns:a="http://schemas.openxmlformats.org/drawingml/2006/main">
            <a:pPr algn="l">
              <a:defRPr sz="690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• Continuous capacity building &amp; quality improvement</a:t>
            </a:r>
          </a:p>
          <a:p xmlns:a="http://schemas.openxmlformats.org/drawingml/2006/main">
            <a:pPr algn="l">
              <a:defRPr sz="690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• Ensure fair working conditions &amp; safeguarding</a:t>
            </a:r>
          </a:p>
          <a:p xmlns:a="http://schemas.openxmlformats.org/drawingml/2006/main">
            <a:pPr algn="l">
              <a:defRPr sz="690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• Social impact monitoring &amp; community empowerment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EE784D-D569-4BC0-A406-7DE4BCC0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24000"/>
            <a:ext cx="2724150" cy="35623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AAF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47D6A8-F83E-4D4B-8340-D5DF8865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67640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5704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57044"/>
                </a:solidFill>
                <a:latin typeface="Aptos Display"/>
                <a:ea typeface="Aptos Display"/>
                <a:cs typeface="Aptos Display"/>
              </a:rPr>
              <a:t>TRAINING &amp; CAPACITY BUILDING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A2C34-7878-4EBA-9970-469B0122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05000"/>
            <a:ext cx="1962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• Craft &amp; design training</a:t>
            </a:r>
          </a:p>
          <a:p xmlns:a="http://schemas.openxmlformats.org/drawingml/2006/main">
            <a:pPr algn="l">
              <a:defRPr sz="863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• Skills enhancement</a:t>
            </a:r>
          </a:p>
          <a:p xmlns:a="http://schemas.openxmlformats.org/drawingml/2006/main">
            <a:pPr algn="l">
              <a:defRPr sz="863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• Quality &amp; production training</a:t>
            </a:r>
          </a:p>
          <a:p xmlns:a="http://schemas.openxmlformats.org/drawingml/2006/main">
            <a:pPr algn="l">
              <a:defRPr sz="863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• Entrepreneurship 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8BC81E-62D0-400C-9D6A-1D628D96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43200"/>
            <a:ext cx="15811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4E9"/>
          </a:solidFill>
          <a:ln xmlns:a="http://schemas.openxmlformats.org/drawingml/2006/main" w="11430">
            <a:solidFill>
              <a:srgbClr val="5570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FA6B08-0D5F-451E-BCA0-6089C477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19400"/>
            <a:ext cx="13906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557044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557044"/>
                </a:solidFill>
                <a:latin typeface="Aptos Display"/>
                <a:ea typeface="Aptos Display"/>
                <a:cs typeface="Aptos Display"/>
              </a:rPr>
              <a:t>WOMEN ARTISANS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EF83D5-2923-431C-B1F5-B454C0D2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1352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Empowered. Skilled. Employed.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36E2EB-7DCB-4CDC-B890-C2071022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81400"/>
            <a:ext cx="15811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4E9"/>
          </a:solidFill>
          <a:ln xmlns:a="http://schemas.openxmlformats.org/drawingml/2006/main" w="11430">
            <a:solidFill>
              <a:srgbClr val="5570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789E42-C991-48C9-9DB2-9A01429B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57600"/>
            <a:ext cx="13906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557044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557044"/>
                </a:solidFill>
                <a:latin typeface="Aptos Display"/>
                <a:ea typeface="Aptos Display"/>
                <a:cs typeface="Aptos Display"/>
              </a:rPr>
              <a:t>PRODUCTION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4A58BC-3FFA-4952-A9A0-BA16F36A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86200"/>
            <a:ext cx="1352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Artisans produce handmade products using trained skills.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AADE06-A5FC-4C6F-80C1-CFBFAC9C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38650"/>
            <a:ext cx="1581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F4E9"/>
          </a:solidFill>
          <a:ln xmlns:a="http://schemas.openxmlformats.org/drawingml/2006/main" w="11430">
            <a:solidFill>
              <a:srgbClr val="5570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1891CD-6A83-4569-8153-600DFFE6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148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7044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57044"/>
                </a:solidFill>
                <a:latin typeface="Aptos Display"/>
                <a:ea typeface="Aptos Display"/>
                <a:cs typeface="Aptos Display"/>
              </a:rPr>
              <a:t>PAYMENT TO ARTISANS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C647E0-FEC6-4849-87AD-164CB167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48225"/>
            <a:ext cx="135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Foundation pays fair wages.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C31DDA-7741-430F-9027-880AB839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66975"/>
            <a:ext cx="1143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7044"/>
          </a:solidFill>
          <a:ln xmlns:a="http://schemas.openxmlformats.org/drawingml/2006/main" w="0">
            <a:solidFill>
              <a:srgbClr val="55704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469913-00DE-4729-88D7-FD999F18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333750"/>
            <a:ext cx="1143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7044"/>
          </a:solidFill>
          <a:ln xmlns:a="http://schemas.openxmlformats.org/drawingml/2006/main" w="0">
            <a:solidFill>
              <a:srgbClr val="55704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5EF0D1-4642-4B65-A9A1-A16BE1CF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238625"/>
            <a:ext cx="1143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7044"/>
          </a:solidFill>
          <a:ln xmlns:a="http://schemas.openxmlformats.org/drawingml/2006/main" w="0">
            <a:solidFill>
              <a:srgbClr val="55704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161ACB-3235-4937-AE47-CDA09068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14675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E7C45"/>
          </a:solidFill>
          <a:ln xmlns:a="http://schemas.openxmlformats.org/drawingml/2006/main" w="0">
            <a:solidFill>
              <a:srgbClr val="4E7C4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713A9D-AEDD-4D27-B395-78E684A8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0517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57044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557044"/>
                </a:solidFill>
                <a:latin typeface="Aptos Display"/>
                <a:ea typeface="Aptos Display"/>
                <a:cs typeface="Aptos Display"/>
              </a:rPr>
              <a:t>Products supplied to Foundation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819FCB-1F7D-46B5-8717-3280EA3F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09850"/>
            <a:ext cx="13525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EF4E9"/>
          </a:solidFill>
          <a:ln xmlns:a="http://schemas.openxmlformats.org/drawingml/2006/main" w="11430">
            <a:solidFill>
              <a:srgbClr val="55704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7F5F25-8F6C-44B2-9FA6-19C74920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860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7044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57044"/>
                </a:solidFill>
                <a:latin typeface="Aptos Display"/>
                <a:ea typeface="Aptos Display"/>
                <a:cs typeface="Aptos Display"/>
              </a:rPr>
              <a:t>FOUNDATION PROCUREMENT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6041AF-628A-40D8-A476-B4D5C283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19425"/>
            <a:ext cx="1123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Foundation procures finished products from artisans and ensures quality standards.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3A7692-09DF-429B-A130-DD5F9F6A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14675"/>
            <a:ext cx="952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3F25E5-37B3-4B22-9298-FF88FD63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05175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E3A8A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1E3A8A"/>
                </a:solidFill>
                <a:latin typeface="Aptos Display"/>
                <a:ea typeface="Aptos Display"/>
                <a:cs typeface="Aptos Display"/>
              </a:rPr>
              <a:t>Products transferred to SFPL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844670-66F4-49E1-B591-3AF4E437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22910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AAF8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D1AA0F-0686-4397-93D5-E8A0CB5A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434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57044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557044"/>
                </a:solidFill>
                <a:latin typeface="Aptos Display"/>
                <a:ea typeface="Aptos Display"/>
                <a:cs typeface="Aptos Display"/>
              </a:rPr>
              <a:t>COST OF PRODUCTION INVOICED TO SFPL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5D56D6-0583-4E0A-A77E-B62AEC30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19625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Includes artisan payments, material, overheads, etc.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32B431-95C5-4E67-A76A-6161B061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591050"/>
            <a:ext cx="609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E7C45"/>
          </a:solidFill>
          <a:ln xmlns:a="http://schemas.openxmlformats.org/drawingml/2006/main" w="0">
            <a:solidFill>
              <a:srgbClr val="4E7C4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55FC96-992C-4CC4-A3A5-253AE296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7434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4E7C45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4E7C45"/>
                </a:solidFill>
                <a:latin typeface="Aptos Display"/>
                <a:ea typeface="Aptos Display"/>
                <a:cs typeface="Aptos Display"/>
              </a:rPr>
              <a:t>Payment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3D91EC-D27C-480B-A352-573DA713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48200"/>
            <a:ext cx="438150" cy="1333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4E7C45"/>
          </a:solidFill>
          <a:ln xmlns:a="http://schemas.openxmlformats.org/drawingml/2006/main" w="0">
            <a:solidFill>
              <a:srgbClr val="4E7C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4614D9-4382-4C5C-A74B-D3744246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24000"/>
            <a:ext cx="1866900" cy="27432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2A1A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95F0EF-7CD4-436C-8DBE-CBA9CEBC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75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2E3D"/>
          </a:solidFill>
          <a:ln xmlns:a="http://schemas.openxmlformats.org/drawingml/2006/main" w="0">
            <a:solidFill>
              <a:srgbClr val="9C2E3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091EE8-C741-48B2-9DD7-F7B8B0EF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954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23126"/>
                </a:solidFill>
                <a:latin typeface="Aptos Display"/>
                <a:ea typeface="Aptos Display"/>
                <a:cs typeface="Aptos Display"/>
              </a:defRPr>
            </a:pPr>
            <a:r>
              <a:rPr sz="690" b="1">
                <a:solidFill>
                  <a:srgbClr val="123126"/>
                </a:solidFill>
                <a:latin typeface="Aptos Display"/>
                <a:ea typeface="Aptos Display"/>
                <a:cs typeface="Aptos Display"/>
              </a:rPr>
              <a:t>DESIGN &amp; PRODUCT DEVELOPMENT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BE4850-9987-4D01-887E-129E3750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52625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Market-driven designs, innovation &amp; product diversification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C0D2F7-3EB9-47A7-B814-6731FED2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2E3D"/>
          </a:solidFill>
          <a:ln xmlns:a="http://schemas.openxmlformats.org/drawingml/2006/main" w="0">
            <a:solidFill>
              <a:srgbClr val="9C2E3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E1E0EF0-0DEE-478D-A3E3-0D00B8D5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23126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23126"/>
                </a:solidFill>
                <a:latin typeface="Aptos Display"/>
                <a:ea typeface="Aptos Display"/>
                <a:cs typeface="Aptos Display"/>
              </a:rPr>
              <a:t>BRANDING &amp; PACKAGING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EC0623-7E57-40B7-87A9-50EA0B0B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62225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Brand building, storytelling &amp; premium positioning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1CF6171-61FC-4146-BD73-29B14576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971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2E3D"/>
          </a:solidFill>
          <a:ln xmlns:a="http://schemas.openxmlformats.org/drawingml/2006/main" w="0">
            <a:solidFill>
              <a:srgbClr val="9C2E3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8911C0-BE04-4322-887D-FF94BE40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146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23126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23126"/>
                </a:solidFill>
                <a:latin typeface="Aptos Display"/>
                <a:ea typeface="Aptos Display"/>
                <a:cs typeface="Aptos Display"/>
              </a:rPr>
              <a:t>MARKETING &amp; SALES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985E0A-E1E2-4AB7-8034-EF1D7BD4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71825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D2C, B2B, corporate gifting, exports &amp; partnerships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8F50CE-F345-421F-B26B-BD419577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581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2E3D"/>
          </a:solidFill>
          <a:ln xmlns:a="http://schemas.openxmlformats.org/drawingml/2006/main" w="0">
            <a:solidFill>
              <a:srgbClr val="9C2E3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724E010-4479-4B5E-B044-3D45D4F1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242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23126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123126"/>
                </a:solidFill>
                <a:latin typeface="Aptos Display"/>
                <a:ea typeface="Aptos Display"/>
                <a:cs typeface="Aptos Display"/>
              </a:rPr>
              <a:t>CUSTOMER EXPERIENCE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E8FA4AE-53C8-4517-AF56-78A57275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81425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Quality assurance, service &amp; repeat engagement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1FEEF70-232A-461B-809A-53CA1393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524000"/>
            <a:ext cx="1581150" cy="23241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C2E3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4B43D52-8053-4AFA-95F2-264F3033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6002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C2E3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2E3D"/>
                </a:solidFill>
                <a:latin typeface="Aptos Display"/>
                <a:ea typeface="Aptos Display"/>
                <a:cs typeface="Aptos Display"/>
              </a:rPr>
              <a:t>SFPL ROLE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8268176-FA17-4F31-8AF8-0E71EB6A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847850"/>
            <a:ext cx="14287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• Build market demand and ensure business sustainability</a:t>
            </a:r>
          </a:p>
          <a:p xmlns:a="http://schemas.openxmlformats.org/drawingml/2006/main">
            <a:pPr algn="l">
              <a:defRPr sz="735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• Expand to new markets &amp; customer segments</a:t>
            </a:r>
          </a:p>
          <a:p xmlns:a="http://schemas.openxmlformats.org/drawingml/2006/main">
            <a:pPr algn="l">
              <a:defRPr sz="735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• Manage operations efficiently and ensure quality at scale</a:t>
            </a:r>
          </a:p>
          <a:p xmlns:a="http://schemas.openxmlformats.org/drawingml/2006/main">
            <a:pPr algn="l">
              <a:defRPr sz="735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• Generate profits to reinvest in growth and impact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8A4C8E7-F532-44EA-B814-5AB23DC3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00550"/>
            <a:ext cx="1524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8ECEE"/>
          </a:solidFill>
          <a:ln xmlns:a="http://schemas.openxmlformats.org/drawingml/2006/main" w="11430">
            <a:solidFill>
              <a:srgbClr val="9C2E3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B091ED7-B834-4F55-9CC7-E353AC1B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76750"/>
            <a:ext cx="1333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9C2E3D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9C2E3D"/>
                </a:solidFill>
                <a:latin typeface="Aptos Display"/>
                <a:ea typeface="Aptos Display"/>
                <a:cs typeface="Aptos Display"/>
              </a:rPr>
              <a:t>CUSTOMERS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0C6740B-F560-4FF8-8836-49FE65AC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05350"/>
            <a:ext cx="1295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Conscious consumers, designers, retailers, corporates, institutions; India &amp; global.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6B4CDCF-C204-4938-AB55-A4AEE2C0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76725"/>
            <a:ext cx="13335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C2E3D"/>
          </a:solidFill>
          <a:ln xmlns:a="http://schemas.openxmlformats.org/drawingml/2006/main" w="0">
            <a:solidFill>
              <a:srgbClr val="9C2E3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BE5B540-EC2A-49C9-A0DA-2F93BE4C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14950"/>
            <a:ext cx="152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ECEE"/>
          </a:solidFill>
          <a:ln xmlns:a="http://schemas.openxmlformats.org/drawingml/2006/main" w="11430">
            <a:solidFill>
              <a:srgbClr val="9C2E3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2A8DA38-B58B-42BA-B31E-BA7A1782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91150"/>
            <a:ext cx="1333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9C2E3D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9C2E3D"/>
                </a:solidFill>
                <a:latin typeface="Aptos Display"/>
                <a:ea typeface="Aptos Display"/>
                <a:cs typeface="Aptos Display"/>
              </a:rPr>
              <a:t>REVENUE TO SFPL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9DFC6FC-249E-4979-B5E6-12ADD6C9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619750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Sales revenue earned from customers.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B0409A8-E2FF-4A54-A3D4-D635992C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143500"/>
            <a:ext cx="13335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C2E3D"/>
          </a:solidFill>
          <a:ln xmlns:a="http://schemas.openxmlformats.org/drawingml/2006/main" w="0">
            <a:solidFill>
              <a:srgbClr val="9C2E3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D7E7792-D11C-437C-B399-E29CC56D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38600"/>
            <a:ext cx="1581150" cy="16764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BF4E5"/>
          </a:solidFill>
          <a:ln xmlns:a="http://schemas.openxmlformats.org/drawingml/2006/main" w="11430">
            <a:solidFill>
              <a:srgbClr val="9A6A2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B0B1B49-10EF-424C-A994-20EC854C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1148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A6A2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A6A20"/>
                </a:solidFill>
                <a:latin typeface="Aptos Display"/>
                <a:ea typeface="Aptos Display"/>
                <a:cs typeface="Aptos Display"/>
              </a:rPr>
              <a:t>VALUE CREATED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BE48B78-C621-4425-9F90-E90CD8EF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362450"/>
            <a:ext cx="1428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• Women earn sustainable incomes</a:t>
            </a:r>
          </a:p>
          <a:p xmlns:a="http://schemas.openxmlformats.org/drawingml/2006/main">
            <a:pPr algn="l">
              <a:defRPr sz="735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• Traditional crafts are preserved &amp; celebrated</a:t>
            </a:r>
          </a:p>
          <a:p xmlns:a="http://schemas.openxmlformats.org/drawingml/2006/main">
            <a:pPr algn="l">
              <a:defRPr sz="735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• Waste materials are upcycled responsibly</a:t>
            </a:r>
          </a:p>
          <a:p xmlns:a="http://schemas.openxmlformats.org/drawingml/2006/main">
            <a:pPr algn="l">
              <a:defRPr sz="735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• Premium quality products delight conscious customers</a:t>
            </a:r>
          </a:p>
          <a:p xmlns:a="http://schemas.openxmlformats.org/drawingml/2006/main">
            <a:pPr algn="l">
              <a:defRPr sz="735" b="0">
                <a:solidFill>
                  <a:srgbClr val="123126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123126"/>
                </a:solidFill>
                <a:latin typeface="Aptos"/>
                <a:ea typeface="Aptos"/>
                <a:cs typeface="Aptos"/>
              </a:rPr>
              <a:t>• Scalable, financially sustainable impact enterprise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E7B11D7-A803-49A6-86C4-24D43242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0960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3A8A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1E3A8A"/>
                </a:solidFill>
                <a:latin typeface="Aptos Display"/>
                <a:ea typeface="Aptos Display"/>
                <a:cs typeface="Aptos Display"/>
              </a:rPr>
              <a:t>Product Flow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1D70D98-5099-4D9F-8E92-63B30B48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143625"/>
            <a:ext cx="285750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249CB3F-01F6-4D08-B27B-F992FF9C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0960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E7C45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4E7C45"/>
                </a:solidFill>
                <a:latin typeface="Aptos Display"/>
                <a:ea typeface="Aptos Display"/>
                <a:cs typeface="Aptos Display"/>
              </a:rPr>
              <a:t>Money Flow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E134E06-1CD3-4552-9D15-AEE2C637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143625"/>
            <a:ext cx="285750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E7C45"/>
          </a:solidFill>
          <a:ln xmlns:a="http://schemas.openxmlformats.org/drawingml/2006/main" w="0">
            <a:solidFill>
              <a:srgbClr val="4E7C4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6FCBA1D-0FA8-4EE8-B8A7-DB9D6C6C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6324600"/>
            <a:ext cx="861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11430">
            <a:solidFill>
              <a:srgbClr val="E8D3A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DA3B936-EB8F-49B3-9978-F6DDFC7C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391275"/>
            <a:ext cx="792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12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23126"/>
                </a:solidFill>
                <a:latin typeface="Aptos Display"/>
                <a:ea typeface="Aptos Display"/>
                <a:cs typeface="Aptos Display"/>
              </a:rPr>
              <a:t>The Foundation enables participation. The For-Profit creates market demand.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DF5E82F-3C44-460D-96E2-BCD91B37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553200"/>
            <a:ext cx="7924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3665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65D"/>
                </a:solidFill>
                <a:latin typeface="Aptos"/>
                <a:ea typeface="Aptos"/>
                <a:cs typeface="Aptos"/>
              </a:rPr>
              <a:t>Together, they create a sustainable ecosystem that empowers women and builds a better world.</a:t>
            </a:r>
          </a:p>
        </p:txBody>
      </p:sp>
    </p:spTree>
    <p:extLst>
      <p:ext uri="{BB962C8B-B14F-4D97-AF65-F5344CB8AC3E}">
        <p14:creationId xmlns:p14="http://schemas.microsoft.com/office/powerpoint/2010/main" val="10246871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2026-06-04T19:43:29.9080000Z</dcterms:created>
  <dcterms:modified xsi:type="dcterms:W3CDTF">2026-06-04T19:43:29.9080000Z</dcterms:modified>
</coreProperties>
</file>