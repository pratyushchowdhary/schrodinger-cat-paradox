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0ab70f78de494b" /><Relationship Type="http://schemas.openxmlformats.org/officeDocument/2006/relationships/extended-properties" Target="/docProps/app.xml" Id="Rf0fb61e810124bf9" /><Relationship Type="http://schemas.openxmlformats.org/officeDocument/2006/relationships/officeDocument" Target="/ppt/presentation.xml" Id="R748c030a818c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8d33a8ede4051"/>
  </p:sldMasterIdLst>
  <p:notesMasterIdLst>
    <p:notesMasterId xmlns:r="http://schemas.openxmlformats.org/officeDocument/2006/relationships" r:id="R9e46548ca19e4230"/>
  </p:notesMasterIdLst>
  <p:sldIdLst>
    <p:sldId xmlns:r="http://schemas.openxmlformats.org/officeDocument/2006/relationships" id="256" r:id="R6762569e224c4b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49dd0c6e94677" /><Relationship Type="http://schemas.openxmlformats.org/officeDocument/2006/relationships/slideMaster" Target="/ppt/slideMasters/slideMaster1.xml" Id="R0a38d33a8ede4051" /><Relationship Type="http://schemas.openxmlformats.org/officeDocument/2006/relationships/notesMaster" Target="/ppt/notesMasters/notesMaster1.xml" Id="R9e46548ca19e4230" /><Relationship Type="http://schemas.openxmlformats.org/officeDocument/2006/relationships/presProps" Target="/ppt/presProps.xml" Id="R25249fc999d14eb0" /><Relationship Type="http://schemas.openxmlformats.org/officeDocument/2006/relationships/viewProps" Target="/ppt/viewProps.xml" Id="Rbef69948010f48a6" /><Relationship Type="http://schemas.openxmlformats.org/officeDocument/2006/relationships/tableStyles" Target="/ppt/tableStyles.xml" Id="R025817d54dd94bac" /><Relationship Type="http://schemas.openxmlformats.org/officeDocument/2006/relationships/slide" Target="/ppt/slides/slide1.xml" Id="R6762569e224c4b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dca19c0e34a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7fbd51a85a4bb2" /><Relationship Type="http://schemas.openxmlformats.org/officeDocument/2006/relationships/notesMaster" Target="/ppt/notesMasters/notesMaster1.xml" Id="Rc593b84af1fd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fd5c9e0c944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135f907644fc1" /><Relationship Type="http://schemas.openxmlformats.org/officeDocument/2006/relationships/slideLayout" Target="/ppt/slideLayouts/slideLayout1.xml" Id="R8d8fd88d67d445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8fd88d67d445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398e1faa14de1" /><Relationship Type="http://schemas.openxmlformats.org/officeDocument/2006/relationships/notesSlide" Target="/ppt/notesSlides/notesSlide1.xml" Id="Ra9132d244d6047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3D90B-FB46-4E38-9F62-B1CE399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FBFAF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C89EC-ACCF-4954-BECD-031CAFC0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221A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7221A"/>
                </a:solidFill>
                <a:latin typeface="Aptos"/>
                <a:ea typeface="Aptos"/>
                <a:cs typeface="Aptos"/>
              </a:rPr>
              <a:t>SIROHI HYBRID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84C1D-2F9C-408F-8733-4B8E9AE2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88" b="0" i="1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1088" b="0" i="1">
                <a:solidFill>
                  <a:srgbClr val="5A625A"/>
                </a:solidFill>
                <a:latin typeface="Aptos"/>
                <a:ea typeface="Aptos"/>
                <a:cs typeface="Aptos"/>
              </a:rPr>
              <a:t>Two entities. One purpose. Sustainable livelihoods for women artisans.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C55EE-EECD-4747-8F1D-AC180859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221A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17221A"/>
                </a:solidFill>
                <a:latin typeface="Aptos"/>
                <a:ea typeface="Aptos"/>
                <a:cs typeface="Aptos"/>
              </a:rPr>
              <a:t>SIROHI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66A2E-BBDC-4F1B-862C-7D026AF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245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MADE BY WOMEN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07F21-359F-4A61-8473-A142810D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2724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46591-C78B-4270-BF42-50E30220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057275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FOUNDATION (NPO)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499DD-7617-4B17-AE4D-E7BC7B73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76350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Inclusion &amp; Capability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4BB5A-FBDF-4DE1-8435-13A4DE52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90600"/>
            <a:ext cx="2724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A33A49"/>
          </a:solidFill>
          <a:ln xmlns:a="http://schemas.openxmlformats.org/drawingml/2006/main" w="9525">
            <a:solidFill>
              <a:srgbClr val="A33A4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EE56F-C67D-4E06-A7DF-69C34658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057275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FURNITURE PVT. LTD.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13E25-991D-41D9-8828-E6788DF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76350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Commercial Arm (For-Profit)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23EBA-81A4-43DA-80AF-B011C3C3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752600" cy="37338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4C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CD25D-9319-40C8-B902-F4769E87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34492F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34492F"/>
                </a:solidFill>
                <a:latin typeface="Aptos"/>
                <a:ea typeface="Aptos"/>
                <a:cs typeface="Aptos"/>
              </a:rPr>
              <a:t>FOUNDATION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90C0F-0C14-4767-888F-3E4135E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Identify &amp; mobilise women artisans from rural and underserved communities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F5787-FAF8-400B-9B5E-98C2C4A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Provide design, craft and technical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31EEF-5787-4300-8962-66A0E75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Continuous capacity building and quality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F7C07-3977-482A-9592-2C85CBC1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Ensure fair working conditions and safeguarding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482F8-79B6-48FF-B236-594C478A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Social impact monitoring and community empowerment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99583-3D73-4DB6-A4D7-49E89C64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52600"/>
            <a:ext cx="1752600" cy="37338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0B4B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3E7A3-84C4-4DC0-B1C7-36ED84E6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240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7F2431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7F2431"/>
                </a:solidFill>
                <a:latin typeface="Aptos"/>
                <a:ea typeface="Aptos"/>
                <a:cs typeface="Aptos"/>
              </a:rPr>
              <a:t>SFPL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7A806-930D-4DB2-A9CA-E4B82792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Build market demand and ensure business sustainability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80DA6-076F-445A-90BC-40DC0336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Expand to new markets and customer segments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A60FA-5A25-4F35-9D8D-A1F36CE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Manage operations efficiently and ensure quality at 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2DF92-AD69-472F-BCAB-84AE638B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529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• Generate profits to reinvest in growth and 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024C9-D46B-4461-88FA-A28FFE1A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238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58FAC-4CF8-4367-BB00-5946AF54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C56FE-2871-4A27-8F4D-E4464D49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716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48223-4F52-4C78-B979-A2BD212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34492F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34492F"/>
                </a:solidFill>
                <a:latin typeface="Aptos"/>
                <a:ea typeface="Aptos"/>
                <a:cs typeface="Aptos"/>
              </a:rPr>
              <a:t>Mobilise &amp; Train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15799-C41B-413F-A737-9EFB7311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43125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Craft, design, quality, production and entrepreneurship support.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200D2-3FEB-4909-ADF9-E533F25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238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B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7D53B-2F6A-49AB-8E03-154C232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38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56C6C0-D4FC-4EE2-84D9-C981DEB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479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0B8753-2CCE-4DCA-8EE3-D1322B71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34492F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34492F"/>
                </a:solidFill>
                <a:latin typeface="Aptos"/>
                <a:ea typeface="Aptos"/>
                <a:cs typeface="Aptos"/>
              </a:rPr>
              <a:t>Women Artisans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804E21-DEB9-4A37-9A42-1D5ADD51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19425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Empowered, skilled and employed through the foundation ecosystem.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5273EC-6D27-44F7-ADFD-07C4FC0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238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B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362C9C-B69E-4EB3-A833-857DAA10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14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136708-9272-412B-8167-09E35694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242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21018C-890D-4346-9FBA-54BB1FE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766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34492F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34492F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D30E77-EE40-4FC9-B88B-11EC6F1B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95725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Artisans produce handmade products using trained skills.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4F8083-C1EA-48D0-B12E-4BCDCEA5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238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B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2A40EE-9872-4EC6-9FC2-BDF1433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91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789C6B-A5BF-4D8E-A7CB-235E857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005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DCE36C-7B64-43DC-917A-ED44E42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34492F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34492F"/>
                </a:solidFill>
                <a:latin typeface="Aptos"/>
                <a:ea typeface="Aptos"/>
                <a:cs typeface="Aptos"/>
              </a:rPr>
              <a:t>Payment to Artisans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C1C74F-46C9-498D-91E8-B090BA9F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72025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Foundation pays artisans fair wages for the products.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73BC65-4FF3-4EB0-907E-F1A488A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5146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0053E7-84E4-41CE-80EC-B9369C94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956AEF-A416-48AA-80EC-3DD78078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33909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EFC6F5-5282-4F78-9CB1-3AF9C907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1290E3-3126-410E-9E0A-D3B15229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42672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D8A846-4623-49AB-B33F-1A5D774D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2CFC50-5113-4738-88B6-A81C28E7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3E8"/>
          </a:solidFill>
          <a:ln xmlns:a="http://schemas.openxmlformats.org/drawingml/2006/main" w="11430">
            <a:solidFill>
              <a:srgbClr val="BFD0B7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5361A5-2189-4A8C-ADEB-BA3168A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34492F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34492F"/>
                </a:solidFill>
                <a:latin typeface="Aptos"/>
                <a:ea typeface="Aptos"/>
                <a:cs typeface="Aptos"/>
              </a:rPr>
              <a:t>FOUNDATION PROCUREMENT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8A8FC3-D60C-4A98-A9D3-E33A923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384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81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Foundation procures finished products from artisans and ensures quality standards.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F153AE-E3B8-4912-96E4-38F63E5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152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1430">
            <a:solidFill>
              <a:srgbClr val="E7C98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4A62-CEF9-48D7-8832-3A4FED38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B58A4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B58A48"/>
                </a:solidFill>
                <a:latin typeface="Aptos"/>
                <a:ea typeface="Aptos"/>
                <a:cs typeface="Aptos"/>
              </a:rPr>
              <a:t>COST OF PRODUCTION</a:t>
            </a:r>
          </a:p>
          <a:p xmlns:a="http://schemas.openxmlformats.org/drawingml/2006/main">
            <a:pPr algn="ctr">
              <a:defRPr sz="788" b="1" i="0">
                <a:solidFill>
                  <a:srgbClr val="B58A4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B58A48"/>
                </a:solidFill>
                <a:latin typeface="Aptos"/>
                <a:ea typeface="Aptos"/>
                <a:cs typeface="Aptos"/>
              </a:rPr>
              <a:t>INVOICED TO SFPL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321A57-A9E5-44E1-A4B7-7F7584BB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33875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Foundation invoices SFPL for production cost, including artisan payments, material and overheads.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B7B159-BA65-4A50-9CB9-8706808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048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9A1A86-0E15-46E1-A0EC-62D27A9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004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B37361-9E76-4FC8-91BF-21CEF179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2902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products supplied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BE3C66-4501-4AF2-8F8A-E151ADAB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29908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72413F-D781-4CAA-9DB8-5DEDA3CE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147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DE8E4C-AB8A-4CC9-95CA-2F60027B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575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invoice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5003CB-73E5-44BD-BE11-1915547D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5768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C880FF-BC32-45A4-954F-0C2BC824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576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5035E6-28B5-4427-89F4-23C8D369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2912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money flow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497B7B-6DDF-47E0-8116-4EE38D01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B8BE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942288-C2CD-4A0A-8846-4031A8CF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621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3A49"/>
          </a:solidFill>
          <a:ln xmlns:a="http://schemas.openxmlformats.org/drawingml/2006/main" w="9525">
            <a:solidFill>
              <a:srgbClr val="A33A49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1067F2-F20D-4259-8269-BC56A3C0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716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5F398A-A6BD-440F-985B-E6C2F887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7F2431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7F2431"/>
                </a:solidFill>
                <a:latin typeface="Aptos"/>
                <a:ea typeface="Aptos"/>
                <a:cs typeface="Aptos"/>
              </a:rPr>
              <a:t>Design &amp; Product Development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164D47-6701-4A93-92F8-BF37748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431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Market-driven designs, innovation and product diversification.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E6AD66-5D24-45D8-8648-1BE8AF3E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B8B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65A285-E600-4B9A-BA1A-4F5ACD87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622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3A49"/>
          </a:solidFill>
          <a:ln xmlns:a="http://schemas.openxmlformats.org/drawingml/2006/main" w="9525">
            <a:solidFill>
              <a:srgbClr val="A33A49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04DA0E-8482-4954-BC90-872F1DE4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717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5382D6-F900-4EA1-9E52-A57D5DA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7F2431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7F2431"/>
                </a:solidFill>
                <a:latin typeface="Aptos"/>
                <a:ea typeface="Aptos"/>
                <a:cs typeface="Aptos"/>
              </a:rPr>
              <a:t>Branding &amp; Packaging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11DB8B-2D97-40AD-8976-974DB0CE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432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Brand building, storytelling and premium positioning.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4EDF96-CD2D-4CE5-8F05-3BB967EC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B8BE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58FEC3-7DD7-4185-8844-B56671E9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62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3A49"/>
          </a:solidFill>
          <a:ln xmlns:a="http://schemas.openxmlformats.org/drawingml/2006/main" w="9525">
            <a:solidFill>
              <a:srgbClr val="A33A49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08112C-2CA6-49DC-B084-9A53A60A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718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2F3B3B-03B6-4D85-80F6-B7B41D40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7F2431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7F2431"/>
                </a:solidFill>
                <a:latin typeface="Aptos"/>
                <a:ea typeface="Aptos"/>
                <a:cs typeface="Aptos"/>
              </a:rPr>
              <a:t>Marketing &amp; Sales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E846E5-648E-426F-82BD-A68CDFA7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433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D2C, B2B, corporate gifting, exports and partnerships.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6C6790A-2568-42BF-A3E3-61DBBEF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B8BE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2A2057A-BDB1-4FB9-8744-687AC2E5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62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3A49"/>
          </a:solidFill>
          <a:ln xmlns:a="http://schemas.openxmlformats.org/drawingml/2006/main" w="9525">
            <a:solidFill>
              <a:srgbClr val="A33A49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590C0E4-7ACE-4E9C-8C3B-BC751B5B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719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CC9A19-5031-4294-9ABC-866EA37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243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7F2431"/>
                </a:solidFill>
                <a:latin typeface="Aptos"/>
                <a:ea typeface="Aptos"/>
                <a:cs typeface="Aptos"/>
              </a:defRPr>
            </a:pPr>
            <a:r>
              <a:rPr sz="885" b="1" i="0">
                <a:solidFill>
                  <a:srgbClr val="7F2431"/>
                </a:solidFill>
                <a:latin typeface="Aptos"/>
                <a:ea typeface="Aptos"/>
                <a:cs typeface="Aptos"/>
              </a:rPr>
              <a:t>Customer Experience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0E7571B-DF7A-4B7E-96E6-7BC5EF6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434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Quality assurance, customer service and repeat engagement.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1C00A5-FB92-4203-BC39-57F40BD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9363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7C"/>
          </a:solidFill>
          <a:ln xmlns:a="http://schemas.openxmlformats.org/drawingml/2006/main" w="9525">
            <a:solidFill>
              <a:srgbClr val="26347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8A423EC-9689-439D-A33F-01A58A81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193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6347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347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F14B36-ABE7-4BDB-B039-1997916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479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26347C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26347C"/>
                </a:solidFill>
                <a:latin typeface="Aptos"/>
                <a:ea typeface="Aptos"/>
                <a:cs typeface="Aptos"/>
              </a:rPr>
              <a:t>products transferred to SFPL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54EACB3-574D-4AE9-B44C-93A08AA4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2000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CEE"/>
          </a:solidFill>
          <a:ln xmlns:a="http://schemas.openxmlformats.org/drawingml/2006/main" w="11430">
            <a:solidFill>
              <a:srgbClr val="DBB0B7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E3FD76A-18F8-4C6F-B264-940F26EF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15" b="1" i="0">
                <a:solidFill>
                  <a:srgbClr val="7F2431"/>
                </a:solidFill>
                <a:latin typeface="Aptos"/>
                <a:ea typeface="Aptos"/>
                <a:cs typeface="Aptos"/>
              </a:defRPr>
            </a:pPr>
            <a:r>
              <a:rPr sz="915" b="1" i="0">
                <a:solidFill>
                  <a:srgbClr val="7F2431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7B0D70D-14AB-4913-81DD-E484EAB1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60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Consumers, designers, retailers, corporates and institutions.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2DE899B-4C79-4424-B72D-5C1FDD9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588" y="4876800"/>
            <a:ext cx="28575" cy="-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49"/>
          </a:solidFill>
          <a:ln xmlns:a="http://schemas.openxmlformats.org/drawingml/2006/main" w="9525">
            <a:solidFill>
              <a:srgbClr val="A33A49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18ECD01-15D6-432F-91EA-39469711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62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33A4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33A49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31DF4A-8F99-423C-B6D2-A099F075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007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7F2431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7F2431"/>
                </a:solidFill>
                <a:latin typeface="Aptos"/>
                <a:ea typeface="Aptos"/>
                <a:cs typeface="Aptos"/>
              </a:rPr>
              <a:t>REVENUE TO SFPL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BCE5E3B-F9E1-4E85-8B06-40F57DE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9120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53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Sales revenue earned from customers.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CE30E8-DA9B-4422-B3A8-F5506030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91213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04B"/>
          </a:solidFill>
          <a:ln xmlns:a="http://schemas.openxmlformats.org/drawingml/2006/main" w="9525">
            <a:solidFill>
              <a:srgbClr val="55704B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8DC9A3-ABE1-45D1-8E4E-4A889DB4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912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5AAFBDE-AAFE-4C7E-ADDF-296E14F6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5816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55704B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55704B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0091E7-BC4F-448D-BF6C-F24B73FC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44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3AB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12BF3C-2D09-4936-8C76-48823EB7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53150"/>
            <a:ext cx="1762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8A4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58A48"/>
                </a:solidFill>
                <a:latin typeface="Aptos"/>
                <a:ea typeface="Aptos"/>
                <a:cs typeface="Aptos"/>
              </a:rPr>
              <a:t>VALUE CREATED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5DC0888-9C9D-489E-9613-E5F24DA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1055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Women earn sustainable incomes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5946E90-6258-4430-A114-6EC7E1FF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055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Traditional crafts are preserved and celebrated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012A9F6-8ED8-40E5-B3AD-C75BE699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1055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Waste materials are upcycled responsibly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93962B3-32F0-4A8E-99E1-45962803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055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Premium quality products delight conscious customers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3F98309-7501-42F4-B101-56BF977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105525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5A625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5A625A"/>
                </a:solidFill>
                <a:latin typeface="Aptos"/>
                <a:ea typeface="Aptos"/>
                <a:cs typeface="Aptos"/>
              </a:rPr>
              <a:t>Scalable, financially sustainable impact enterprise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1EA188-73D8-4ED0-B518-60EF6310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534150"/>
            <a:ext cx="598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7221A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7221A"/>
                </a:solidFill>
                <a:latin typeface="Aptos"/>
                <a:ea typeface="Aptos"/>
                <a:cs typeface="Aptos"/>
              </a:rPr>
              <a:t>The Foundation enables participation. The For-Profit creates market demand.</a:t>
            </a:r>
          </a:p>
        </p:txBody>
      </p:sp>
    </p:spTree>
    <p:extLst>
      <p:ext uri="{BB962C8B-B14F-4D97-AF65-F5344CB8AC3E}">
        <p14:creationId xmlns:p14="http://schemas.microsoft.com/office/powerpoint/2010/main" val="1913801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2026-06-04T19:30:32.1060000Z</dcterms:created>
  <dcterms:modified xsi:type="dcterms:W3CDTF">2026-06-04T19:30:32.1060000Z</dcterms:modified>
</coreProperties>
</file>