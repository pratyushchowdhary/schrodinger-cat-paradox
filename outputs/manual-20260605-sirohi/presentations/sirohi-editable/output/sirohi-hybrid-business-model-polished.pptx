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2b1e9133b04b64" /><Relationship Type="http://schemas.openxmlformats.org/officeDocument/2006/relationships/extended-properties" Target="/docProps/app.xml" Id="R464ca79828364cc0" /><Relationship Type="http://schemas.openxmlformats.org/officeDocument/2006/relationships/officeDocument" Target="/ppt/presentation.xml" Id="Rf5e485f99fad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2ad685062944ee"/>
  </p:sldMasterIdLst>
  <p:notesMasterIdLst>
    <p:notesMasterId xmlns:r="http://schemas.openxmlformats.org/officeDocument/2006/relationships" r:id="R9f5d8af8fb3a4c0a"/>
  </p:notesMasterIdLst>
  <p:sldIdLst>
    <p:sldId xmlns:r="http://schemas.openxmlformats.org/officeDocument/2006/relationships" id="256" r:id="R2efc12a5f1c747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881a500614df1" /><Relationship Type="http://schemas.openxmlformats.org/officeDocument/2006/relationships/slideMaster" Target="/ppt/slideMasters/slideMaster1.xml" Id="Rd02ad685062944ee" /><Relationship Type="http://schemas.openxmlformats.org/officeDocument/2006/relationships/notesMaster" Target="/ppt/notesMasters/notesMaster1.xml" Id="R9f5d8af8fb3a4c0a" /><Relationship Type="http://schemas.openxmlformats.org/officeDocument/2006/relationships/presProps" Target="/ppt/presProps.xml" Id="R0e157d377eab49ef" /><Relationship Type="http://schemas.openxmlformats.org/officeDocument/2006/relationships/viewProps" Target="/ppt/viewProps.xml" Id="R121674e37028464e" /><Relationship Type="http://schemas.openxmlformats.org/officeDocument/2006/relationships/tableStyles" Target="/ppt/tableStyles.xml" Id="Re1f8737d551f4f1e" /><Relationship Type="http://schemas.openxmlformats.org/officeDocument/2006/relationships/slide" Target="/ppt/slides/slide1.xml" Id="R2efc12a5f1c7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836cf39e145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f94322824840b7" /><Relationship Type="http://schemas.openxmlformats.org/officeDocument/2006/relationships/notesMaster" Target="/ppt/notesMasters/notesMaster1.xml" Id="R53a05f7246c4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34f6ac105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0aa06fb32246f4" /><Relationship Type="http://schemas.openxmlformats.org/officeDocument/2006/relationships/slideLayout" Target="/ppt/slideLayouts/slideLayout1.xml" Id="R973d8f84170a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d8f84170a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08f57da0f4bfa" /><Relationship Type="http://schemas.openxmlformats.org/officeDocument/2006/relationships/notesSlide" Target="/ppt/notesSlides/notesSlide1.xml" Id="R68f7d1cc27724a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04A87-17F3-4C93-A0C2-FC68A1C2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45488-0647-48E6-9723-2DE69155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42119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42119"/>
                </a:solidFill>
                <a:latin typeface="Aptos"/>
                <a:ea typeface="Aptos"/>
                <a:cs typeface="Aptos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B59C6-BA5F-4B10-BDDC-5607790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9645C"/>
                </a:solidFill>
                <a:latin typeface="Aptos"/>
                <a:ea typeface="Aptos"/>
                <a:cs typeface="Aptos"/>
              </a:rPr>
              <a:t>Two entities. One purpose. Sustainable livelihoods for women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1D8BE-CED4-4CBF-B118-DAB43CE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42119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42119"/>
                </a:solidFill>
                <a:latin typeface="Aptos"/>
                <a:ea typeface="Aptos"/>
                <a:cs typeface="Aptos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2679A-723C-464F-8000-CB866F6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33400"/>
            <a:ext cx="971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36709-14BC-4957-8A7A-DBE3A44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71550"/>
            <a:ext cx="2857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23868-377D-4170-A465-85FA1A5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0572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FOUNDATION (NPO)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86FED-E4CF-47DA-BF0A-D284CCC2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858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Inclusion &amp; Capability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F4A81-0711-43F2-9D0C-93AC347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71550"/>
            <a:ext cx="2857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54CC9-7B45-4670-9525-BBEA6B64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572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FURNITURE PVT. LTD.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B4A31-2531-4A7B-A1CA-33A652B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858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Commercial Arm (For-Profit)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46972-86F4-4C5C-A608-0FAFA2A9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809750" cy="3333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5D7B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270C8-AFDF-4E11-BCD9-0808C3CA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FOUNDATION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04941-6EE3-4674-B420-65EAA7F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Identify and mobilise women artisans from rural and underserved communities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0E9D5-24EC-4FC9-B1B8-36902F6D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Provide design, craft and technical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9CD09-7C84-411D-9CB8-3111A5A9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Build capacity and improve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FA0F9-8440-47AA-B774-37BD45A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Ensure fair working conditions and safeguarding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2FA04-B1AD-42AB-9D89-CE36B55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Track social impact and community empowerment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72519-906F-4432-89BC-98E55740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27813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D8B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7C0C4-8B56-40B2-A15C-EF5A8619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526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0F04F-DADE-4A12-B1E6-53761F1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62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78840-8FEB-4A4F-89E8-2CC0FE8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Mobilise &amp; Train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A4C46-872C-4524-9524-B369612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50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Craft, design, quality, production and entrepreneurship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B20AC-ED8D-45A1-9771-ACB59BA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EEF4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28A83-8B0B-45DC-9A70-37C503E4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05100"/>
            <a:ext cx="27813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D8B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54387-131C-49C5-A818-C75664D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D5F12-AEF8-4ADC-9936-223AFD4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146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86F4F-52C4-4294-BE75-ACB91C67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Women Artisans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FA27F-54C7-4B22-82D1-B7537946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575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Empowered, skilled and employed through the foundation ecosystem.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105C7-9BBB-4DDE-B1A4-2BBDFA93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622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EEF4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45C61-9889-4CB6-83AE-87D0998E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27813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D8B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A9E9B-C129-434A-80DE-AFB86DA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576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006813-E446-43A0-920D-1A8EBB1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67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39FC0-A5ED-49EF-9AAA-3C9D4D1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09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F5E73-2CD8-4D01-9FE0-2946283E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100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Artisans produce handmade products using trained skills.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7E7BB-C3B5-44A3-9264-FC1C7E8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147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EEF4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7D90AC-CAB9-4ACB-B1C6-C5AD0D96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0100"/>
            <a:ext cx="27813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D8B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B386E3-CB92-4944-ACA8-54AF7F9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01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C8D9F5-296E-4025-8104-992BD624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96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501EA5-8444-42EA-BB14-FC623E82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201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Payment to Artisans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E7A2BC-50EB-44DB-BD3F-E53F422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62525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Foundation pays artisans fair wages for the products.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1CB56-7B4B-4876-8EEF-70443D0C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672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9525">
            <a:solidFill>
              <a:srgbClr val="EEF4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355DD5-FD45-4C35-B3CF-7424037D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336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5AF4F7-4551-4070-B5A3-944A5F2F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3A08C2-799D-4D83-A66D-F4CC062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861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B1ADF4-52BE-416C-9341-FF394A8C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67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5992EA-9202-4729-8EC5-6243DE69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37044D-2305-4B1A-9C82-996AA909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DFD0BB-7E55-43DC-94C9-DF74743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4EA"/>
          </a:solidFill>
          <a:ln xmlns:a="http://schemas.openxmlformats.org/drawingml/2006/main" w="11430">
            <a:solidFill>
              <a:srgbClr val="C6D8B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D9EF2F-EBB2-49A6-A992-93A35E3B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146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AB5501-E4F1-4CE5-B992-355DAFD5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68D5A8-7533-4057-8E70-3BEE1618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24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FCFADB-3B83-4880-A65E-4D488D68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86100"/>
            <a:ext cx="723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05" b="1" i="0">
                <a:solidFill>
                  <a:srgbClr val="31472D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31472D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D6D78F-2435-4E2F-A0EF-31A0F832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33750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Procures finished products from artisans and ensures quality standards.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6459AF-4C18-4330-81FD-7F0E6FA4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409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BF1DD"/>
          </a:solidFill>
          <a:ln xmlns:a="http://schemas.openxmlformats.org/drawingml/2006/main" w="11430">
            <a:solidFill>
              <a:srgbClr val="E6C78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2DE3F2-32E6-4B97-8C1F-1ECB6A34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386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843"/>
          </a:solidFill>
          <a:ln xmlns:a="http://schemas.openxmlformats.org/drawingml/2006/main" w="9525">
            <a:solidFill>
              <a:srgbClr val="B3884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6DEF8B-6AAC-4D28-8131-8632712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48175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78AEC4-B9C0-42C7-AB28-D3F217C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6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B38843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B38843"/>
                </a:solidFill>
                <a:latin typeface="Aptos"/>
                <a:ea typeface="Aptos"/>
                <a:cs typeface="Aptos"/>
              </a:rPr>
              <a:t>COST INVOICED</a:t>
            </a:r>
          </a:p>
          <a:p xmlns:a="http://schemas.openxmlformats.org/drawingml/2006/main">
            <a:pPr algn="ctr">
              <a:defRPr sz="765" b="1" i="0">
                <a:solidFill>
                  <a:srgbClr val="B38843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B38843"/>
                </a:solidFill>
                <a:latin typeface="Aptos"/>
                <a:ea typeface="Aptos"/>
                <a:cs typeface="Aptos"/>
              </a:rPr>
              <a:t>TO SFPL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DA5E38-2193-45D9-892A-4EC24043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672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Includes artisan payments, material and overheads.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1A4A5F-7E5B-44D9-8993-BD50312D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52373F-B4DF-45BF-B094-9F21EC26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765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D2F1D4-0DCC-4F51-916C-A0B3271D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622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products supplied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489947-E266-4DDB-BF43-DBB7839B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457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87D"/>
          </a:solidFill>
          <a:ln xmlns:a="http://schemas.openxmlformats.org/drawingml/2006/main" w="9525">
            <a:solidFill>
              <a:srgbClr val="24387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EBE7A3-476F-4474-BA15-C61359FE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765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387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387D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74F229-7A58-4E62-B887-3D3CEE8A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622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24387D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24387D"/>
                </a:solidFill>
                <a:latin typeface="Aptos"/>
                <a:ea typeface="Aptos"/>
                <a:cs typeface="Aptos"/>
              </a:rPr>
              <a:t>products transferred to SFPL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635C7C-C28A-4BE2-8FD8-D1FCEB4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47625" cy="8477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A2535-D0AE-4856-867A-57DFBECA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38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255BB1-D184-4A2D-AD94-BC81DA90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B958E7-A16C-4361-BDB5-7587D56D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3A6D17-BA23-4093-8DD3-1A8848B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EB0199-A97B-4764-ADAF-09BDF09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14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money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4CAE4C-9608-4CF8-A355-4B8A236A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27241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B5BC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D1C10C-3CB6-4093-B46A-2FE4FEA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526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8FC932-10AA-4FF4-80F6-2A1EC1B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62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1188F0-4E53-4070-8228-7D8A2532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Design &amp; Product Development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B83417F-ADE3-4600-A8F9-090A1286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05025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Market-driven designs, innovation and product diversification.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1417C3-D634-49C6-9EB4-673E8003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9ECEF"/>
          </a:solidFill>
          <a:ln xmlns:a="http://schemas.openxmlformats.org/drawingml/2006/main" w="9525">
            <a:solidFill>
              <a:srgbClr val="F9ECE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7EADD87-1577-4D01-89C7-2D0477B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27241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B5B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803021-02DF-44A9-9ACF-2E5DA4B7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051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147AD9-736D-499D-9D88-38606A3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146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◆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1A41734-E715-452E-A1FB-2D168E2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Branding &amp; Packaging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7846F8-55A9-4724-ACF2-4865134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57525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Brand building, storytelling and premium positioning.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45C7CC-C2B2-4704-8BFB-F35E27B9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9ECEF"/>
          </a:solidFill>
          <a:ln xmlns:a="http://schemas.openxmlformats.org/drawingml/2006/main" w="9525">
            <a:solidFill>
              <a:srgbClr val="F9ECE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CF16E0F-CA90-4CBF-9406-11716888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27241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B5B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2FFC1F6-8046-4248-B50C-E7B90CA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576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1DC79A-2AA6-4AA6-A5F7-D567522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67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↗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7A18D45-0A01-402A-B1C9-931BCC5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Marketing &amp; Sales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DE44592-A93E-40D4-B456-02853EC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0025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D2C, B2B, corporate gifting, exports and partnerships.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6A435BB-5333-484E-8963-694AE72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9ECEF"/>
          </a:solidFill>
          <a:ln xmlns:a="http://schemas.openxmlformats.org/drawingml/2006/main" w="9525">
            <a:solidFill>
              <a:srgbClr val="F9ECE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F72CE3-AD9E-4A22-9789-B63826F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27241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0B5B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A40A33-57BF-4ED3-B540-8D4C53B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E059C9-9105-4751-AB34-B1BAFB9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96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♡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C3AD395-0E3D-41EB-AFF9-5350DA2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434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Customer Experience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09EEB18-ED5B-4D30-9875-62F6C28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62525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Quality assurance, customer service and repeat engagement.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23A99E-3AD8-4D56-ABC1-8CED910D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9ECEF"/>
          </a:solidFill>
          <a:ln xmlns:a="http://schemas.openxmlformats.org/drawingml/2006/main" w="9525">
            <a:solidFill>
              <a:srgbClr val="F9ECE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63D6F36-2035-46F7-ADA4-D1F09A5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E6ED01-4756-4D1D-8F6C-D9C0CBC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3C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3C4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2173428-4C0D-4EEA-B7BB-479A25C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8A423F-C5C3-43D4-BEC7-090901E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67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3C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3C4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EFD3F2-D4B8-41C5-8E5A-3AAA620D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476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D111E5-C70E-472F-BCBF-B472761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3C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3C4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0B8B32-DFD2-4F76-BF27-136B14C2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1809750" cy="3333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2B6B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865E13-56F0-4146-BCDA-C226216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SFPL ROLE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71AA21-DB9D-4B2B-A9B0-99C3829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669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Build market demand and business sustainability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E5D7803-26A6-4B74-B88B-FB6549B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Expand to new markets and customer segments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C86EBB-8CA2-4A64-B782-31E82949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670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Manage operations efficiently and ensure quality at scale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E28CDF-73F8-4D9C-BE3D-311257DE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671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• Generate profits to reinvest in growth and impact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E044DAB-2CD8-4DA9-96AA-DAE86CD5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19750"/>
            <a:ext cx="27813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9ECEF"/>
          </a:solidFill>
          <a:ln xmlns:a="http://schemas.openxmlformats.org/drawingml/2006/main" w="10478">
            <a:solidFill>
              <a:srgbClr val="E2B6B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D8A390B-FF52-4ECB-8FD5-72CB204B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B180D2-FD7B-4928-84EF-E00FBB9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67375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👤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C6CD80B-104A-4A76-8626-D0E8297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2924C1-9460-460B-8757-CB7EA06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Consumers, designers, retailers, corporates and institutions.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D4267D-88F7-4C25-B1D5-010FF2C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47625" cy="1047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83C4B"/>
          </a:solidFill>
          <a:ln xmlns:a="http://schemas.openxmlformats.org/drawingml/2006/main" w="9525">
            <a:solidFill>
              <a:srgbClr val="A83C4B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4A4ADA-F56E-4029-A05B-03F3EBB2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83C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3C4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257ABA-B326-472B-B951-17F57D5E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17220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F253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F2532"/>
                </a:solidFill>
                <a:latin typeface="Aptos"/>
                <a:ea typeface="Aptos"/>
                <a:cs typeface="Aptos"/>
              </a:rPr>
              <a:t>REVENUE TO SFPL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8E4EE9-1017-40AF-B785-1FE8F99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172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Sales revenue from customers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15806D2-AF20-4622-B806-BDEF7C6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362700"/>
            <a:ext cx="6096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8754F"/>
          </a:solidFill>
          <a:ln xmlns:a="http://schemas.openxmlformats.org/drawingml/2006/main" w="9525">
            <a:solidFill>
              <a:srgbClr val="58754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6577B44-910C-4961-AA61-61191246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2388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1ADA367-AB5E-42B6-80F7-FF3D38FB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245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8754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8754F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17E14BF-6D01-4255-87F0-3C5FD72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29250"/>
            <a:ext cx="6096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1A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3A9CD54-50D6-4D23-B94B-E374FF2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B388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B38843"/>
                </a:solidFill>
                <a:latin typeface="Aptos"/>
                <a:ea typeface="Aptos"/>
                <a:cs typeface="Aptos"/>
              </a:rPr>
              <a:t>VALUE CREATED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E24B98-7BEE-42F5-80A2-842DF51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✓ Women earn sustainable incomes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6C7AA2C-51C7-426D-A22C-45C2781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67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✓ Traditional crafts are preserved and celebrated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C700FF1-4F14-4E31-9368-615A0CD9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67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✓ Waste materials are upcycled responsibly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C67847-8AB7-4572-B1CB-433341E0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✓ Premium quality products delight conscious customers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EF090D-FC2B-4A38-B15F-A948EB9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0960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l">
              <a:defRPr sz="660" b="0" i="0">
                <a:solidFill>
                  <a:srgbClr val="59645C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9645C"/>
                </a:solidFill>
                <a:latin typeface="Aptos"/>
                <a:ea typeface="Aptos"/>
                <a:cs typeface="Aptos"/>
              </a:rPr>
              <a:t>✓ Scalable, financially sustainable impact enterprise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C45E6A2-FEF7-478B-9DF6-249DB649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15100"/>
            <a:ext cx="632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211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42119"/>
                </a:solidFill>
                <a:latin typeface="Aptos"/>
                <a:ea typeface="Aptos"/>
                <a:cs typeface="Aptos"/>
              </a:rPr>
              <a:t>The Foundation enables participation. The For-Profit creates market demand.</a:t>
            </a:r>
          </a:p>
        </p:txBody>
      </p:sp>
    </p:spTree>
    <p:extLst>
      <p:ext uri="{BB962C8B-B14F-4D97-AF65-F5344CB8AC3E}">
        <p14:creationId xmlns:p14="http://schemas.microsoft.com/office/powerpoint/2010/main" val="1138777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2026-06-04T19:35:38.6900000Z</dcterms:created>
  <dcterms:modified xsi:type="dcterms:W3CDTF">2026-06-04T19:35:38.6900000Z</dcterms:modified>
</coreProperties>
</file>