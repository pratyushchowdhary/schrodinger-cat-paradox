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963f8db77e41f7" /><Relationship Type="http://schemas.openxmlformats.org/officeDocument/2006/relationships/extended-properties" Target="/docProps/app.xml" Id="Ra6ae2a6f23a4458a" /><Relationship Type="http://schemas.openxmlformats.org/officeDocument/2006/relationships/officeDocument" Target="/ppt/presentation.xml" Id="R625dd27617e840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2951a5513a422d"/>
  </p:sldMasterIdLst>
  <p:notesMasterIdLst>
    <p:notesMasterId xmlns:r="http://schemas.openxmlformats.org/officeDocument/2006/relationships" r:id="Rc51d4d29254b4324"/>
  </p:notesMasterIdLst>
  <p:sldIdLst>
    <p:sldId xmlns:r="http://schemas.openxmlformats.org/officeDocument/2006/relationships" id="256" r:id="R46fe8e61497349b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aa423fef9e4975" /><Relationship Type="http://schemas.openxmlformats.org/officeDocument/2006/relationships/slideMaster" Target="/ppt/slideMasters/slideMaster1.xml" Id="R372951a5513a422d" /><Relationship Type="http://schemas.openxmlformats.org/officeDocument/2006/relationships/notesMaster" Target="/ppt/notesMasters/notesMaster1.xml" Id="Rc51d4d29254b4324" /><Relationship Type="http://schemas.openxmlformats.org/officeDocument/2006/relationships/presProps" Target="/ppt/presProps.xml" Id="R1211fd8f9e894910" /><Relationship Type="http://schemas.openxmlformats.org/officeDocument/2006/relationships/viewProps" Target="/ppt/viewProps.xml" Id="R5e4d6830d15b4d88" /><Relationship Type="http://schemas.openxmlformats.org/officeDocument/2006/relationships/tableStyles" Target="/ppt/tableStyles.xml" Id="R1ffee4fc470541cf" /><Relationship Type="http://schemas.openxmlformats.org/officeDocument/2006/relationships/slide" Target="/ppt/slides/slide1.xml" Id="R46fe8e61497349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557435aefd4a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b51fa8d7d54c8e" /><Relationship Type="http://schemas.openxmlformats.org/officeDocument/2006/relationships/notesMaster" Target="/ppt/notesMasters/notesMaster1.xml" Id="Rda6e6637d0b349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8feb9cc7c14c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fb1bc5fa8a4212" /><Relationship Type="http://schemas.openxmlformats.org/officeDocument/2006/relationships/slideLayout" Target="/ppt/slideLayouts/slideLayout1.xml" Id="R2180495d91ca43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80495d91ca43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ca07482d0406e" /><Relationship Type="http://schemas.openxmlformats.org/officeDocument/2006/relationships/notesSlide" Target="/ppt/notesSlides/notesSlide1.xml" Id="R5782f356b809428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525D6E-0650-4B79-B573-4E017950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E55C9-2D3D-4934-A640-E279F207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619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2116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02116"/>
                </a:solidFill>
                <a:latin typeface="Aptos"/>
                <a:ea typeface="Aptos"/>
                <a:cs typeface="Aptos"/>
              </a:rPr>
              <a:t>SIROHI HYBRID BUSINESS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7D8D5-0B09-43CE-9ABC-9AABFC32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23875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163" b="0" i="1">
                <a:solidFill>
                  <a:srgbClr val="202820"/>
                </a:solidFill>
                <a:latin typeface="Aptos"/>
                <a:ea typeface="Aptos"/>
                <a:cs typeface="Aptos"/>
              </a:defRPr>
            </a:pPr>
            <a:r>
              <a:rPr sz="1163" b="0" i="1">
                <a:solidFill>
                  <a:srgbClr val="202820"/>
                </a:solidFill>
                <a:latin typeface="Aptos"/>
                <a:ea typeface="Aptos"/>
                <a:cs typeface="Aptos"/>
              </a:rPr>
              <a:t>Two entities. One purpose. Sustainable livelihoods for women artisans.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4138F2-AA37-471F-B9D9-8CF6FF06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286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102116"/>
                </a:solidFill>
                <a:latin typeface="Aptos"/>
                <a:ea typeface="Aptos"/>
                <a:cs typeface="Aptos"/>
              </a:defRPr>
            </a:pPr>
            <a:r>
              <a:rPr sz="2100" b="0" i="0">
                <a:solidFill>
                  <a:srgbClr val="102116"/>
                </a:solidFill>
                <a:latin typeface="Aptos"/>
                <a:ea typeface="Aptos"/>
                <a:cs typeface="Aptos"/>
              </a:rPr>
              <a:t>SIROHI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1DAFC-C530-4707-87AE-BE14BF3A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048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MADE BY WOMEN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201F5-C140-474A-B6DF-C6BEAF75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05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B48B4F"/>
                </a:solidFill>
                <a:latin typeface="Aptos"/>
                <a:ea typeface="Aptos"/>
                <a:cs typeface="Aptos"/>
              </a:defRPr>
            </a:pPr>
            <a:r>
              <a:rPr sz="2550" b="0" i="0">
                <a:solidFill>
                  <a:srgbClr val="B48B4F"/>
                </a:solidFill>
                <a:latin typeface="Aptos"/>
                <a:ea typeface="Aptos"/>
                <a:cs typeface="Aptos"/>
              </a:rPr>
              <a:t>*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FFB7A-D2AC-4509-965E-FEECBEBE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62075"/>
            <a:ext cx="1581150" cy="37147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9D2C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0B2238-AD0B-4AD5-AE96-D557F183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62075"/>
            <a:ext cx="1581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EC"/>
          </a:solidFill>
          <a:ln xmlns:a="http://schemas.openxmlformats.org/drawingml/2006/main" w="9525">
            <a:solidFill>
              <a:srgbClr val="C9D2C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07E787-D80F-4C37-9399-FCE2D601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47A5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47A50"/>
                </a:solidFill>
                <a:latin typeface="Aptos"/>
                <a:ea typeface="Aptos"/>
                <a:cs typeface="Aptos"/>
              </a:rPr>
              <a:t>FOUNDATION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0DB1CF-30E4-4132-A187-AE228A2D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647A50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647A50"/>
                </a:solidFill>
                <a:latin typeface="Aptos"/>
                <a:ea typeface="Aptos"/>
                <a:cs typeface="Aptos"/>
              </a:rPr>
              <a:t>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F5FCEA-39D7-4A5D-8BC3-0F78A71A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810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Identify &amp; mobilise women artisans from rural &amp; underserved communities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77BAA5-AE76-43BA-BD5C-55794D75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647A50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647A50"/>
                </a:solidFill>
                <a:latin typeface="Aptos"/>
                <a:ea typeface="Aptos"/>
                <a:cs typeface="Aptos"/>
              </a:rPr>
              <a:t>[]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C9DAB5-F2DD-4A4A-9DC1-384B946F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114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810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Provide design, craft &amp; technical training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ABA0AE-1BE8-40E5-8EDE-4B0A08D3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647A50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647A50"/>
                </a:solidFill>
                <a:latin typeface="Aptos"/>
                <a:ea typeface="Aptos"/>
                <a:cs typeface="Aptos"/>
              </a:rPr>
              <a:t>&lt;3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BB5D58-E81F-4AFE-9EFC-20970E84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114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810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Continuous capacity building &amp; quality improvement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FE354F-7343-4AE4-B110-2E74802A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95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647A50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647A50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DD65E0-43A9-4A1A-8414-8C204639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14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810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Ensure fair working conditions &amp; safeguarding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CF4E38-6AD9-4772-BC8F-8FA9235F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24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647A50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647A50"/>
                </a:solidFill>
                <a:latin typeface="Aptos"/>
                <a:ea typeface="Aptos"/>
                <a:cs typeface="Aptos"/>
              </a:rPr>
              <a:t>/|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E57C0A-3558-490D-B820-2BFF2B44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114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810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Social impact monitoring &amp; community empowerment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03783A-A1F4-4B07-A5FF-DDA2F14C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838200"/>
            <a:ext cx="2619375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647A50"/>
          </a:solidFill>
          <a:ln xmlns:a="http://schemas.openxmlformats.org/drawingml/2006/main" w="9525">
            <a:solidFill>
              <a:srgbClr val="647A5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9F084D-6316-4CA3-BA76-866CE2DB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885825"/>
            <a:ext cx="2466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SIROHI FOUNDATION (NPO)</a:t>
            </a:r>
          </a:p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Inclusion &amp; Capability Building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2B566E-0CD3-4B56-9842-D0B7E7F4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362075"/>
            <a:ext cx="2476500" cy="4667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D906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F4082A-1CD1-471A-8FDF-360B38FD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54305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7A50"/>
          </a:solidFill>
          <a:ln xmlns:a="http://schemas.openxmlformats.org/drawingml/2006/main" w="9525">
            <a:solidFill>
              <a:srgbClr val="647A5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448153-0B44-4B90-8C1B-68E83B4C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6573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59DF36-D6F1-4093-A454-F5623F0D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3837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38" b="1" i="0">
                <a:solidFill>
                  <a:srgbClr val="647A50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647A50"/>
                </a:solidFill>
                <a:latin typeface="Aptos"/>
                <a:ea typeface="Aptos"/>
                <a:cs typeface="Aptos"/>
              </a:rPr>
              <a:t>TRAINING &amp; CAPACITY BUILDING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20A00C-412C-4031-A9F6-046D5B77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476500"/>
            <a:ext cx="1857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95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795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• Craft &amp; design training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2C7818-97BA-4835-B43C-012301DA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638425"/>
            <a:ext cx="1857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95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795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• Skills enhancement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A6AAE0-1F2C-4232-B6C8-920A6407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800350"/>
            <a:ext cx="1857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95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795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• Quality &amp; production training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4BDCE-4751-4703-885F-1B7EB155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962275"/>
            <a:ext cx="1857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95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795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• Entrepreneurship support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01A607-9C4E-44B4-991C-30AF07DF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3124200"/>
            <a:ext cx="28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A50"/>
          </a:solidFill>
          <a:ln xmlns:a="http://schemas.openxmlformats.org/drawingml/2006/main" w="9525">
            <a:solidFill>
              <a:srgbClr val="647A50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B9A9E0-8D37-49F2-83B7-174D1410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27660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47A5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47A5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2783CD-29E9-4134-A4F1-2F4DC540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60997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4EA"/>
          </a:solidFill>
          <a:ln xmlns:a="http://schemas.openxmlformats.org/drawingml/2006/main" w="9525">
            <a:solidFill>
              <a:srgbClr val="EEF4E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9CF5EE-28BA-4D54-B008-F9D5855E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724275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ART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77619D-7D8C-4621-A58F-289ADBB9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434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0211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02116"/>
                </a:solidFill>
                <a:latin typeface="Aptos"/>
                <a:ea typeface="Aptos"/>
                <a:cs typeface="Aptos"/>
              </a:rPr>
              <a:t>WOMEN ARTISANS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A910A2-C56F-4A0F-8044-036848C6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339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Empowered. Skilled. Employed.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FAEA06-9782-419F-A42B-51271DE0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472440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A50"/>
          </a:solidFill>
          <a:ln xmlns:a="http://schemas.openxmlformats.org/drawingml/2006/main" w="9525">
            <a:solidFill>
              <a:srgbClr val="647A50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AC31E7-08F3-4134-B46B-1EBDCE16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81965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47A5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47A5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D801C8-ACF3-423F-A010-DF4E10B4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93395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7A50"/>
          </a:solidFill>
          <a:ln xmlns:a="http://schemas.openxmlformats.org/drawingml/2006/main" w="9525">
            <a:solidFill>
              <a:srgbClr val="647A50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5F1E4D-2D83-412D-8C43-3F785BC4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0482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BOX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61C74A-78F7-407F-848C-7E9EE8AC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5054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47A50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A50"/>
                </a:solidFill>
                <a:latin typeface="Aptos"/>
                <a:ea typeface="Aptos"/>
                <a:cs typeface="Aptos"/>
              </a:rPr>
              <a:t>PRODUCTION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E0CE6F-C33D-4449-9592-3AB9894F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56959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Artisans produce handmade</a:t>
            </a:r>
          </a:p>
          <a:p xmlns:a="http://schemas.openxmlformats.org/drawingml/2006/main">
            <a:pPr algn="ctr">
              <a:defRPr sz="788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products using trained skills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81FDE6-C051-49CB-B194-79590788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5810250"/>
            <a:ext cx="28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A50"/>
          </a:solidFill>
          <a:ln xmlns:a="http://schemas.openxmlformats.org/drawingml/2006/main" w="9525">
            <a:solidFill>
              <a:srgbClr val="647A50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8CD0A36-DF19-426F-B4F5-E1D1A06C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565785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47A5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47A5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AB0BEA-6F14-423A-B046-16B62381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876925"/>
            <a:ext cx="12954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F4EC"/>
          </a:solidFill>
          <a:ln xmlns:a="http://schemas.openxmlformats.org/drawingml/2006/main" w="9525">
            <a:solidFill>
              <a:srgbClr val="7D906D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1A9EC1F-BADE-43F2-A37F-D11EEBAE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924550"/>
            <a:ext cx="11049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735" b="1" i="0">
                <a:solidFill>
                  <a:srgbClr val="647A50"/>
                </a:solidFill>
                <a:latin typeface="Aptos"/>
                <a:ea typeface="Aptos"/>
                <a:cs typeface="Aptos"/>
              </a:defRPr>
            </a:pPr>
            <a:r>
              <a:rPr sz="735" b="1" i="0">
                <a:solidFill>
                  <a:srgbClr val="647A50"/>
                </a:solidFill>
                <a:latin typeface="Aptos"/>
                <a:ea typeface="Aptos"/>
                <a:cs typeface="Aptos"/>
              </a:rPr>
              <a:t>PAYMENT TO ARTISANS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A6F786C-63CE-459D-AA2D-831B8F1E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0769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660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Foundation pays fair wages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36F9F73-4445-4066-880E-8CB19AE5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857500"/>
            <a:ext cx="129540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D906D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830EA80-C60E-4B68-81A2-9D0FFCDB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5275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906D"/>
          </a:solidFill>
          <a:ln xmlns:a="http://schemas.openxmlformats.org/drawingml/2006/main" w="9525">
            <a:solidFill>
              <a:srgbClr val="7D906D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0570A8C-17A2-42B1-83B9-FFB68EAB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670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BLDG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987654-5A43-477C-9827-9F418588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562350"/>
            <a:ext cx="93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47A50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A50"/>
                </a:solidFill>
                <a:latin typeface="Aptos"/>
                <a:ea typeface="Aptos"/>
                <a:cs typeface="Aptos"/>
              </a:rPr>
              <a:t>FOUNDATION</a:t>
            </a:r>
          </a:p>
          <a:p xmlns:a="http://schemas.openxmlformats.org/drawingml/2006/main">
            <a:pPr algn="ctr">
              <a:defRPr sz="900" b="1" i="0">
                <a:solidFill>
                  <a:srgbClr val="647A50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A50"/>
                </a:solidFill>
                <a:latin typeface="Aptos"/>
                <a:ea typeface="Aptos"/>
                <a:cs typeface="Aptos"/>
              </a:rPr>
              <a:t>PROCUREMENT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E007685-240A-40FE-9EE6-13EBF3CF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76675"/>
            <a:ext cx="102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Foundation procures</a:t>
            </a:r>
          </a:p>
          <a:p xmlns:a="http://schemas.openxmlformats.org/drawingml/2006/main">
            <a:pPr algn="ctr">
              <a:defRPr sz="713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finished products from</a:t>
            </a:r>
          </a:p>
          <a:p xmlns:a="http://schemas.openxmlformats.org/drawingml/2006/main">
            <a:pPr algn="ctr">
              <a:defRPr sz="713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artisans and ensures</a:t>
            </a:r>
          </a:p>
          <a:p xmlns:a="http://schemas.openxmlformats.org/drawingml/2006/main">
            <a:pPr algn="ctr">
              <a:defRPr sz="713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quality standards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DD234B8-4D4E-4B68-B03F-00457EF9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57588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A50"/>
          </a:solidFill>
          <a:ln xmlns:a="http://schemas.openxmlformats.org/drawingml/2006/main" w="9525">
            <a:solidFill>
              <a:srgbClr val="647A50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643EA3B-4E0F-45CC-8879-E565CB57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46710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647A5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647A5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1592535-A5D7-4C16-BFF0-5B3069A0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7660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Products supplied</a:t>
            </a:r>
          </a:p>
          <a:p xmlns:a="http://schemas.openxmlformats.org/drawingml/2006/main">
            <a:pPr algn="ctr">
              <a:defRPr sz="750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to Foundation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95C06A7-35B7-4D36-AEB4-04EE6546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57588"/>
            <a:ext cx="6000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E79"/>
          </a:solidFill>
          <a:ln xmlns:a="http://schemas.openxmlformats.org/drawingml/2006/main" w="9525">
            <a:solidFill>
              <a:srgbClr val="1F2E79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6122A5D-17A0-48D2-A6F8-0B0C822C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6710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F2E79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F2E7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A59FF12-3AC0-4E78-832B-51AAEB62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7660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F2E79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1F2E79"/>
                </a:solidFill>
                <a:latin typeface="Aptos"/>
                <a:ea typeface="Aptos"/>
                <a:cs typeface="Aptos"/>
              </a:rPr>
              <a:t>Products transferred</a:t>
            </a:r>
          </a:p>
          <a:p xmlns:a="http://schemas.openxmlformats.org/drawingml/2006/main">
            <a:pPr algn="ctr">
              <a:defRPr sz="750" b="0" i="0">
                <a:solidFill>
                  <a:srgbClr val="1F2E79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1F2E79"/>
                </a:solidFill>
                <a:latin typeface="Aptos"/>
                <a:ea typeface="Aptos"/>
                <a:cs typeface="Aptos"/>
              </a:rPr>
              <a:t>to SFPL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303BB26-A4DE-47C7-BF38-1AAE82C3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0288" y="4057650"/>
            <a:ext cx="285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A50"/>
          </a:solidFill>
          <a:ln xmlns:a="http://schemas.openxmlformats.org/drawingml/2006/main" w="9525">
            <a:solidFill>
              <a:srgbClr val="647A50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829AAD1-C51C-43DA-8C38-47EE8B86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46722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47A5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47A5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E0E64DF-8E12-4F77-A59D-FE5595C2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857750"/>
            <a:ext cx="17907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D906D"/>
            </a:solidFill>
            <a:prstDash val="dash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470B4E9-D62C-4A3F-8D04-420440E2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0101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647A50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647A50"/>
                </a:solidFill>
                <a:latin typeface="Aptos"/>
                <a:ea typeface="Aptos"/>
                <a:cs typeface="Aptos"/>
              </a:rPr>
              <a:t>COST OF PRODUCTION</a:t>
            </a:r>
          </a:p>
          <a:p xmlns:a="http://schemas.openxmlformats.org/drawingml/2006/main">
            <a:pPr algn="ctr">
              <a:defRPr sz="863" b="1" i="0">
                <a:solidFill>
                  <a:srgbClr val="647A50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647A50"/>
                </a:solidFill>
                <a:latin typeface="Aptos"/>
                <a:ea typeface="Aptos"/>
                <a:cs typeface="Aptos"/>
              </a:rPr>
              <a:t>INVOICED TO SFPL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629C01C-5584-4B5B-AA17-802DDAED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14950"/>
            <a:ext cx="1181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Foundation invoices SFPL for</a:t>
            </a:r>
          </a:p>
          <a:p xmlns:a="http://schemas.openxmlformats.org/drawingml/2006/main">
            <a:pPr algn="ctr">
              <a:defRPr sz="713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the total cost of production</a:t>
            </a:r>
          </a:p>
          <a:p xmlns:a="http://schemas.openxmlformats.org/drawingml/2006/main">
            <a:pPr algn="ctr">
              <a:defRPr sz="713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(including artisan payments,</a:t>
            </a:r>
          </a:p>
          <a:p xmlns:a="http://schemas.openxmlformats.org/drawingml/2006/main">
            <a:pPr algn="ctr">
              <a:defRPr sz="713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material, overheads, etc.)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BD8E2F1-DB3F-4899-BCF6-2DB83380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52197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47A50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47A50"/>
                </a:solidFill>
                <a:latin typeface="Aptos"/>
                <a:ea typeface="Aptos"/>
                <a:cs typeface="Aptos"/>
              </a:rPr>
              <a:t>$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EC788D2-7BDA-4A36-BD8B-88B442BF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862638"/>
            <a:ext cx="1114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A50"/>
          </a:solidFill>
          <a:ln xmlns:a="http://schemas.openxmlformats.org/drawingml/2006/main" w="9525">
            <a:solidFill>
              <a:srgbClr val="647A50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D9AA54A-E2A8-470C-9720-B5E48204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77215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647A5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647A5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3FF15F0-2C52-4DC0-AEEF-A259AA8D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862638"/>
            <a:ext cx="619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A50"/>
          </a:solidFill>
          <a:ln xmlns:a="http://schemas.openxmlformats.org/drawingml/2006/main" w="9525">
            <a:solidFill>
              <a:srgbClr val="647A50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B561FC0-7B76-431E-9263-1E48ED21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77215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647A5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647A5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E1B4691-ECA0-4FB9-BE30-D3E62043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4188" y="570547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47A50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47A50"/>
                </a:solidFill>
                <a:latin typeface="Aptos"/>
                <a:ea typeface="Aptos"/>
                <a:cs typeface="Aptos"/>
              </a:rPr>
              <a:t>Payment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7C384FB-DC3E-421D-A045-D3D88A67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38200"/>
            <a:ext cx="27622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9B2F3E"/>
          </a:solidFill>
          <a:ln xmlns:a="http://schemas.openxmlformats.org/drawingml/2006/main" w="9525">
            <a:solidFill>
              <a:srgbClr val="9B2F3E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ACDA00F-62DE-49F7-B639-5D964461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885825"/>
            <a:ext cx="2609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SIROHI FURNITURE PVT. LTD.</a:t>
            </a:r>
          </a:p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(SFPL)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F49780E-7CB0-41BC-9BC5-EA367072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381125"/>
            <a:ext cx="2628900" cy="3000375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A8AE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EF33CD5-94FE-4A15-A767-2D431633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72402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2F3E"/>
          </a:solidFill>
          <a:ln xmlns:a="http://schemas.openxmlformats.org/drawingml/2006/main" w="9525">
            <a:solidFill>
              <a:srgbClr val="9B2F3E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2526765-B993-4DE2-8C99-4D229E64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838325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AFF6E1D-A700-4A16-9FFF-D7605904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716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102116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02116"/>
                </a:solidFill>
                <a:latin typeface="Aptos"/>
                <a:ea typeface="Aptos"/>
                <a:cs typeface="Aptos"/>
              </a:rPr>
              <a:t>DESIGN &amp; PRODUCT</a:t>
            </a:r>
          </a:p>
          <a:p xmlns:a="http://schemas.openxmlformats.org/drawingml/2006/main">
            <a:pPr algn="l">
              <a:defRPr sz="863" b="1" i="0">
                <a:solidFill>
                  <a:srgbClr val="102116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02116"/>
                </a:solidFill>
                <a:latin typeface="Aptos"/>
                <a:ea typeface="Aptos"/>
                <a:cs typeface="Aptos"/>
              </a:rPr>
              <a:t>DEVELOPMENT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A0595A3-DE3B-45A3-B468-4D9B853B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955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35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735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Market-driven designs,</a:t>
            </a:r>
          </a:p>
          <a:p xmlns:a="http://schemas.openxmlformats.org/drawingml/2006/main">
            <a:pPr algn="l">
              <a:defRPr sz="735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735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innovation &amp; product</a:t>
            </a:r>
          </a:p>
          <a:p xmlns:a="http://schemas.openxmlformats.org/drawingml/2006/main">
            <a:pPr algn="l">
              <a:defRPr sz="735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735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diversification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E2081AD-7CD9-42C2-A593-2F5DB84B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44792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2F3E"/>
          </a:solidFill>
          <a:ln xmlns:a="http://schemas.openxmlformats.org/drawingml/2006/main" w="9525">
            <a:solidFill>
              <a:srgbClr val="9B2F3E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3384998-6D3A-436E-B118-D4CD0D64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562225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BR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B45D753-57E3-4E50-ACBC-0A6D2C8A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955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102116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02116"/>
                </a:solidFill>
                <a:latin typeface="Aptos"/>
                <a:ea typeface="Aptos"/>
                <a:cs typeface="Aptos"/>
              </a:rPr>
              <a:t>BRANDING &amp; PACKAGING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97C7DC6-C27E-4A55-BF63-77D7C265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194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35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735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Brand building, storytelling</a:t>
            </a:r>
          </a:p>
          <a:p xmlns:a="http://schemas.openxmlformats.org/drawingml/2006/main">
            <a:pPr algn="l">
              <a:defRPr sz="735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735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&amp; premium positioning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F1E436E-F953-431E-9B74-E329F13C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17182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2F3E"/>
          </a:solidFill>
          <a:ln xmlns:a="http://schemas.openxmlformats.org/drawingml/2006/main" w="9525">
            <a:solidFill>
              <a:srgbClr val="9B2F3E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1689147-32D1-4B66-A293-47ECE758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286125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MKT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0E1B0D8-4CE3-4DDB-9B1B-80C4F2C0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194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102116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02116"/>
                </a:solidFill>
                <a:latin typeface="Aptos"/>
                <a:ea typeface="Aptos"/>
                <a:cs typeface="Aptos"/>
              </a:rPr>
              <a:t>MARKETING &amp; SALES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55A6083-5D24-470F-A27F-87CE8138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433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35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735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D2C (online &amp; retail), B2B,</a:t>
            </a:r>
          </a:p>
          <a:p xmlns:a="http://schemas.openxmlformats.org/drawingml/2006/main">
            <a:pPr algn="l">
              <a:defRPr sz="735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735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corporate gifting, exports</a:t>
            </a:r>
          </a:p>
          <a:p xmlns:a="http://schemas.openxmlformats.org/drawingml/2006/main">
            <a:pPr algn="l">
              <a:defRPr sz="735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735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&amp; partnerships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57C4E3A-E8E4-4082-9925-0EAA11F2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89572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2F3E"/>
          </a:solidFill>
          <a:ln xmlns:a="http://schemas.openxmlformats.org/drawingml/2006/main" w="9525">
            <a:solidFill>
              <a:srgbClr val="9B2F3E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539219F-C66A-49EA-B7CC-E7742C4D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010025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CX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D5CF739-5593-4C06-B2CB-7583E749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433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102116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02116"/>
                </a:solidFill>
                <a:latin typeface="Aptos"/>
                <a:ea typeface="Aptos"/>
                <a:cs typeface="Aptos"/>
              </a:rPr>
              <a:t>CUSTOMER EXPERIENCE</a:t>
            </a:r>
          </a:p>
          <a:p xmlns:a="http://schemas.openxmlformats.org/drawingml/2006/main">
            <a:pPr algn="l">
              <a:defRPr sz="863" b="1" i="0">
                <a:solidFill>
                  <a:srgbClr val="102116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02116"/>
                </a:solidFill>
                <a:latin typeface="Aptos"/>
                <a:ea typeface="Aptos"/>
                <a:cs typeface="Aptos"/>
              </a:rPr>
              <a:t>&amp; RELATIONSHIPS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5337138-8159-44F7-B55A-69EE3766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672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35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735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Quality assurance, customer</a:t>
            </a:r>
          </a:p>
          <a:p xmlns:a="http://schemas.openxmlformats.org/drawingml/2006/main">
            <a:pPr algn="l">
              <a:defRPr sz="735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735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service &amp; repeat engagement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8CD9338-8AC2-4A72-8A08-9ECFF39B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538" y="4381500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2F3E"/>
          </a:solidFill>
          <a:ln xmlns:a="http://schemas.openxmlformats.org/drawingml/2006/main" w="9525">
            <a:solidFill>
              <a:srgbClr val="9B2F3E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9029684-5D52-4DB5-AEC3-4738947C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0535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9B2F3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9B2F3E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541E62D-14BD-4208-BC53-D2E8FB48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362075"/>
            <a:ext cx="1581150" cy="25717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6A8AE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F37C3FB-3142-4CB3-A6E2-9E5D530A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362075"/>
            <a:ext cx="1581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EF0"/>
          </a:solidFill>
          <a:ln xmlns:a="http://schemas.openxmlformats.org/drawingml/2006/main" w="9525">
            <a:solidFill>
              <a:srgbClr val="D6A8AE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E5BBBEE-AF0C-4483-898D-07B12186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42875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9B2F3E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B2F3E"/>
                </a:solidFill>
                <a:latin typeface="Aptos"/>
                <a:ea typeface="Aptos"/>
                <a:cs typeface="Aptos"/>
              </a:rPr>
              <a:t>SFPL ROLE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0ECA600-E884-4B7F-B237-A66DFB4D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1905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9B2F3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9B2F3E"/>
                </a:solidFill>
                <a:latin typeface="Aptos"/>
                <a:ea typeface="Aptos"/>
                <a:cs typeface="Aptos"/>
              </a:rPr>
              <a:t>/|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6F0520A-41BE-4D6A-81E2-365B22EB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885950"/>
            <a:ext cx="114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810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Build market demand and ensure business sustainability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EB2CD91-74DB-4C89-BD8D-412AC766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5812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9B2F3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9B2F3E"/>
                </a:solidFill>
                <a:latin typeface="Aptos"/>
                <a:ea typeface="Aptos"/>
                <a:cs typeface="Aptos"/>
              </a:rPr>
              <a:t>O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0D5BF7A-C861-47A7-9356-682EE068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562225"/>
            <a:ext cx="114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810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Expand to new markets &amp; customer segments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FF6E968-8628-4A18-900B-A4019E6F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2575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9B2F3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9B2F3E"/>
                </a:solidFill>
                <a:latin typeface="Aptos"/>
                <a:ea typeface="Aptos"/>
                <a:cs typeface="Aptos"/>
              </a:rPr>
              <a:t>@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A772991-556E-44B2-AC75-EF98958B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0"/>
            <a:ext cx="114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810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Manage operations efficiently &amp; ensure quality at scale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6457F06-7291-4014-A4BA-B604EACE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338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9B2F3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9B2F3E"/>
                </a:solidFill>
                <a:latin typeface="Aptos"/>
                <a:ea typeface="Aptos"/>
                <a:cs typeface="Aptos"/>
              </a:rPr>
              <a:t>Rs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A311106-E89E-4D07-A641-57D4761C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914775"/>
            <a:ext cx="114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810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Generate profits to reinvest in growth and impact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EBA987F-A9C9-40C2-91C2-D05A18B3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62500"/>
            <a:ext cx="2362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6A8AE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F5DFCA3-829C-4329-AFA3-CA741477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89585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2F3E"/>
          </a:solidFill>
          <a:ln xmlns:a="http://schemas.openxmlformats.org/drawingml/2006/main" w="9525">
            <a:solidFill>
              <a:srgbClr val="9B2F3E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94F8C01-992B-479E-961F-2DA07177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0101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CUST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1441417-AC71-4930-947D-1C365115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24425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0211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02116"/>
                </a:solidFill>
                <a:latin typeface="Aptos"/>
                <a:ea typeface="Aptos"/>
                <a:cs typeface="Aptos"/>
              </a:rPr>
              <a:t>CUSTOMERS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BB81FCF-43E4-4F03-B8CB-1E1CA6CF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33975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Conscious consumers, interior</a:t>
            </a:r>
          </a:p>
          <a:p xmlns:a="http://schemas.openxmlformats.org/drawingml/2006/main">
            <a:pPr algn="l">
              <a:defRPr sz="713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designers, retailers, corporates,</a:t>
            </a:r>
          </a:p>
          <a:p xmlns:a="http://schemas.openxmlformats.org/drawingml/2006/main">
            <a:pPr algn="l">
              <a:defRPr sz="713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institutions (India &amp; Global)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8EAC680-F6DF-4134-BA0A-17BD29AE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538" y="5505450"/>
            <a:ext cx="285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2F3E"/>
          </a:solidFill>
          <a:ln xmlns:a="http://schemas.openxmlformats.org/drawingml/2006/main" w="9525">
            <a:solidFill>
              <a:srgbClr val="9B2F3E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6D10B4D-FDA8-45F4-9FBF-55F6ABD4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68642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9B2F3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9B2F3E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39C828B-3495-49BD-A79F-21475CFE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71500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2F3E"/>
          </a:solidFill>
          <a:ln xmlns:a="http://schemas.openxmlformats.org/drawingml/2006/main" w="9525">
            <a:solidFill>
              <a:srgbClr val="9B2F3E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C526F12-6E9E-4223-A4E7-6915AA5C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8293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Rs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6A51C71-FD3A-4B2E-9B9A-EB9F077F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819775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9B2F3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B2F3E"/>
                </a:solidFill>
                <a:latin typeface="Aptos"/>
                <a:ea typeface="Aptos"/>
                <a:cs typeface="Aptos"/>
              </a:rPr>
              <a:t>REVENUE TO SFPL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7D8C7B8-1891-4A17-8127-4810E0A2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0198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Sales revenue earned by SFPL</a:t>
            </a:r>
          </a:p>
          <a:p xmlns:a="http://schemas.openxmlformats.org/drawingml/2006/main">
            <a:pPr algn="l">
              <a:defRPr sz="713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from customers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C4CF89B-3FFF-4EDC-B662-01D51548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76700"/>
            <a:ext cx="1581150" cy="20193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0C999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2B53460-CF4C-4B8D-A22F-0E9F82F8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76700"/>
            <a:ext cx="1581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A"/>
          </a:solidFill>
          <a:ln xmlns:a="http://schemas.openxmlformats.org/drawingml/2006/main" w="9525">
            <a:solidFill>
              <a:srgbClr val="E0C999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B1FBEB6-7840-4371-B80B-2B8868BE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43375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48B4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B48B4F"/>
                </a:solidFill>
                <a:latin typeface="Aptos"/>
                <a:ea typeface="Aptos"/>
                <a:cs typeface="Aptos"/>
              </a:rPr>
              <a:t>VALUE CREATED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CC40E71-C127-4E25-A169-79C43D75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5339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28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728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✓ Women earn sustainable incomes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2156017-0C4B-4869-AF33-30752C2C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8291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28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728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✓ Traditional crafts are preserved &amp; celebrated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C91DDAB-7C71-4128-A19E-BDD3B184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1244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28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728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✓ Waste materials are upcycled responsibly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7F652AA-FF86-4FA5-A226-EA942817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4197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28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728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✓ Premium quality products delight conscious customers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E9FB59E-E222-4876-B1E4-3FA98641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7150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28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728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✓ A scalable, financially sustainable impact enterprise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E6C5C46-19AA-4354-A709-30464B3C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2865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&gt; Product Flow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98E053F-6C69-4ED6-8F5E-8B87BB39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3627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E79"/>
          </a:solidFill>
          <a:ln xmlns:a="http://schemas.openxmlformats.org/drawingml/2006/main" w="9525">
            <a:solidFill>
              <a:srgbClr val="1F2E79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ADE6950-5BC2-444F-9284-734CE0F4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2865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&gt; Money Flow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8AAB1BD-17AE-41AD-8B64-C1E0D553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3627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A50"/>
          </a:solidFill>
          <a:ln xmlns:a="http://schemas.openxmlformats.org/drawingml/2006/main" w="9525">
            <a:solidFill>
              <a:srgbClr val="647A50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1760156-532C-41E5-AD0A-1DD065FF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305550"/>
            <a:ext cx="9144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5EA"/>
          </a:solidFill>
          <a:ln xmlns:a="http://schemas.openxmlformats.org/drawingml/2006/main" w="9525">
            <a:solidFill>
              <a:srgbClr val="E9D8B8"/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489E38D-1898-4E09-ADF5-CC966ECB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630555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34C"/>
          </a:solidFill>
          <a:ln xmlns:a="http://schemas.openxmlformats.org/drawingml/2006/main" w="9525">
            <a:solidFill>
              <a:srgbClr val="28734C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D4579C6-97E7-4C17-92FA-1D658ED7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64198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IM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1FEE4FD-7726-49D4-AE88-2036CC70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64008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11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02116"/>
                </a:solidFill>
                <a:latin typeface="Aptos"/>
                <a:ea typeface="Aptos"/>
                <a:cs typeface="Aptos"/>
              </a:rPr>
              <a:t>The Foundation enables participation. The For-Profit creates market demand.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4069632-2205-4011-8DF1-7359AE3C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6591300"/>
            <a:ext cx="521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3C3C3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3C3C3C"/>
                </a:solidFill>
                <a:latin typeface="Aptos"/>
                <a:ea typeface="Aptos"/>
                <a:cs typeface="Aptos"/>
              </a:rPr>
              <a:t>Together, we create a sustainable ecosystem that empowers women and builds a better world.</a:t>
            </a:r>
          </a:p>
        </p:txBody>
      </p:sp>
    </p:spTree>
    <p:extLst>
      <p:ext uri="{BB962C8B-B14F-4D97-AF65-F5344CB8AC3E}">
        <p14:creationId xmlns:p14="http://schemas.microsoft.com/office/powerpoint/2010/main" val="19818556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2026-06-04T19:25:48.9870000Z</dcterms:created>
  <dcterms:modified xsi:type="dcterms:W3CDTF">2026-06-04T19:25:48.9870000Z</dcterms:modified>
</coreProperties>
</file>