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767cb440c342ba" /><Relationship Type="http://schemas.openxmlformats.org/officeDocument/2006/relationships/extended-properties" Target="/docProps/app.xml" Id="R69b28bba90d34831" /><Relationship Type="http://schemas.openxmlformats.org/officeDocument/2006/relationships/officeDocument" Target="/ppt/presentation.xml" Id="R65b9b0614e39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1be37130c745f2"/>
  </p:sldMasterIdLst>
  <p:notesMasterIdLst>
    <p:notesMasterId xmlns:r="http://schemas.openxmlformats.org/officeDocument/2006/relationships" r:id="R8a164760c3df41c2"/>
  </p:notesMasterIdLst>
  <p:sldIdLst>
    <p:sldId xmlns:r="http://schemas.openxmlformats.org/officeDocument/2006/relationships" id="256" r:id="Rfeeebc7c3f774f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bef8ad1bae4761" /><Relationship Type="http://schemas.openxmlformats.org/officeDocument/2006/relationships/slideMaster" Target="/ppt/slideMasters/slideMaster1.xml" Id="R6a1be37130c745f2" /><Relationship Type="http://schemas.openxmlformats.org/officeDocument/2006/relationships/notesMaster" Target="/ppt/notesMasters/notesMaster1.xml" Id="R8a164760c3df41c2" /><Relationship Type="http://schemas.openxmlformats.org/officeDocument/2006/relationships/presProps" Target="/ppt/presProps.xml" Id="R87d7d25780974d31" /><Relationship Type="http://schemas.openxmlformats.org/officeDocument/2006/relationships/viewProps" Target="/ppt/viewProps.xml" Id="Rddccd7a9433747c6" /><Relationship Type="http://schemas.openxmlformats.org/officeDocument/2006/relationships/tableStyles" Target="/ppt/tableStyles.xml" Id="R11a5b3e513014971" /><Relationship Type="http://schemas.openxmlformats.org/officeDocument/2006/relationships/slide" Target="/ppt/slides/slide1.xml" Id="Rfeeebc7c3f774f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d7cab800e143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90d772b2424970" /><Relationship Type="http://schemas.openxmlformats.org/officeDocument/2006/relationships/notesMaster" Target="/ppt/notesMasters/notesMaster1.xml" Id="Rb8a06b0ad4ca43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8fb7327994a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9a9efaa00a4838" /><Relationship Type="http://schemas.openxmlformats.org/officeDocument/2006/relationships/slideLayout" Target="/ppt/slideLayouts/slideLayout1.xml" Id="R5074c8bc7efe44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74c8bc7efe44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b66886ff14a32" /><Relationship Type="http://schemas.openxmlformats.org/officeDocument/2006/relationships/notesSlide" Target="/ppt/notesSlides/notesSlide1.xml" Id="Re63f0035059b44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73279-3B26-404A-B074-DA0BD8AB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9525">
            <a:solidFill>
              <a:srgbClr val="FAF7E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E7641-5CC5-4ADF-9094-7456CE8F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638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31B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7231B"/>
                </a:solidFill>
                <a:latin typeface="Aptos"/>
                <a:ea typeface="Aptos"/>
                <a:cs typeface="Aptos"/>
              </a:rPr>
              <a:t>SIROHI HYBRID 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480CF-2CD5-4B32-9C53-C08D120B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19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5F655F"/>
                </a:solidFill>
                <a:latin typeface="Aptos"/>
                <a:ea typeface="Aptos"/>
                <a:cs typeface="Aptos"/>
              </a:rPr>
              <a:t>Two entities. One purpose. Sustainable livelihoods for women artisans.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F2B42-02AB-4693-8D7E-6EAC87D3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67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7231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17231B"/>
                </a:solidFill>
                <a:latin typeface="Aptos"/>
                <a:ea typeface="Aptos"/>
                <a:cs typeface="Aptos"/>
              </a:rPr>
              <a:t>SIROHI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CAA62-BB19-4B35-9D37-B77EC4F9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5245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MADE BY WOMEN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DD3BC-FCD1-4471-A6EB-47C46B6E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52500"/>
            <a:ext cx="26670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31C51-AA45-462F-97EF-72A349A5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019175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SIROHI FOUNDATION (NPO)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5A838-31D6-481C-B73E-C18D0B43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238250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05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Inclusion and Capability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9ED38-B234-48D0-BA71-11DEA7AC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952500"/>
            <a:ext cx="26670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4DF4B-3655-41D1-9A55-63D27882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19175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SIROHI FURNITURE PVT. LTD.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10A7A-2CE2-4667-8552-55279C24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38250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05" b="0" i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Commercial Arm, For-Profit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F3D63-E806-4EB1-B143-518B790B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66800"/>
            <a:ext cx="1752600" cy="373380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9D8C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C6D8C-97C7-44F4-B679-68234481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5621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9525">
            <a:solidFill>
              <a:srgbClr val="EAF1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CB44E-2C89-494B-A5B3-D9D75A42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9675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95" b="1" i="0">
                <a:solidFill>
                  <a:srgbClr val="293F2A"/>
                </a:solidFill>
                <a:latin typeface="Aptos"/>
                <a:ea typeface="Aptos"/>
                <a:cs typeface="Aptos"/>
              </a:defRPr>
            </a:pPr>
            <a:r>
              <a:rPr sz="795" b="1" i="0">
                <a:solidFill>
                  <a:srgbClr val="293F2A"/>
                </a:solidFill>
                <a:latin typeface="Aptos"/>
                <a:ea typeface="Aptos"/>
                <a:cs typeface="Aptos"/>
              </a:rPr>
              <a:t>FOUNDATION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4617-9546-4016-B45F-575C1A64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Identify and mobilise women artisans from rural and underserved communities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B4FD4-140C-48FF-B402-1CBA1F0C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Provide design, craft and technical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07F0F-1E9F-4B15-95FE-F11FB353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Continuous capacity building and quality improvement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DCE3A-30F3-4F9D-A41A-852B6FF7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Ensure fair working conditions and safeguarding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5D304-CB00-48B2-AA21-61F1EB6A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Social impact monitoring and community empowerment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61146-E12F-4C5B-B390-F8483D37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76400"/>
            <a:ext cx="26479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AD9C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30615-C32F-4969-A209-A63564A2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809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33EBF-A193-4E67-A4E9-00D226DA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8288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F72CE-27B2-43AE-8EBB-7B50016B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71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8" b="1" i="0">
                <a:solidFill>
                  <a:srgbClr val="293F2A"/>
                </a:solidFill>
                <a:latin typeface="Aptos"/>
                <a:ea typeface="Aptos"/>
                <a:cs typeface="Aptos"/>
              </a:defRPr>
            </a:pPr>
            <a:r>
              <a:rPr sz="818" b="1" i="0">
                <a:solidFill>
                  <a:srgbClr val="293F2A"/>
                </a:solidFill>
                <a:latin typeface="Aptos"/>
                <a:ea typeface="Aptos"/>
                <a:cs typeface="Aptos"/>
              </a:rPr>
              <a:t>Training and Capacity Building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D2532-741C-4466-B482-3059E3D5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71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Craft and design training, skills enhancement, quality training and entrepreneurship support.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659D3-FAE0-4A20-802D-150A48E8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26479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AD9C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0CA48-C346-451F-8EC5-81AFEAD4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533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08AB82-D8CA-4455-A28C-F314026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5527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90678-C7FC-41D5-A46A-D1C7145B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95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8" b="1" i="0">
                <a:solidFill>
                  <a:srgbClr val="293F2A"/>
                </a:solidFill>
                <a:latin typeface="Aptos"/>
                <a:ea typeface="Aptos"/>
                <a:cs typeface="Aptos"/>
              </a:defRPr>
            </a:pPr>
            <a:r>
              <a:rPr sz="818" b="1" i="0">
                <a:solidFill>
                  <a:srgbClr val="293F2A"/>
                </a:solidFill>
                <a:latin typeface="Aptos"/>
                <a:ea typeface="Aptos"/>
                <a:cs typeface="Aptos"/>
              </a:rPr>
              <a:t>Women Artisans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3DCD86-085C-4F38-AB2A-DD12999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955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Empowered, skilled and employed through the Sirohi ecosystem.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06A0D-8BEB-4ADA-8CF6-B0FAB9DD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26479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AD9C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671989-7DC1-446A-A46D-0999765D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57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995DA-BDDD-4BAD-AAC8-4E6D793C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766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E81929-0C77-435F-A00D-FBA8C9E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8" b="1" i="0">
                <a:solidFill>
                  <a:srgbClr val="293F2A"/>
                </a:solidFill>
                <a:latin typeface="Aptos"/>
                <a:ea typeface="Aptos"/>
                <a:cs typeface="Aptos"/>
              </a:defRPr>
            </a:pPr>
            <a:r>
              <a:rPr sz="818" b="1" i="0">
                <a:solidFill>
                  <a:srgbClr val="293F2A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AFFDA7-A1EA-42A5-92D4-486E0853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194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Artisans produce handmade products using trained skills.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C52A09-BB46-4B44-A30F-9A1FAB52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26479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AD9C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D0A40D-7710-4CB9-B933-D813B451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81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98AB85-CA0E-4CF0-BBA6-1687FD33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005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399911-0FDB-410C-AB9A-AB01E378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43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8" b="1" i="0">
                <a:solidFill>
                  <a:srgbClr val="293F2A"/>
                </a:solidFill>
                <a:latin typeface="Aptos"/>
                <a:ea typeface="Aptos"/>
                <a:cs typeface="Aptos"/>
              </a:defRPr>
            </a:pPr>
            <a:r>
              <a:rPr sz="818" b="1" i="0">
                <a:solidFill>
                  <a:srgbClr val="293F2A"/>
                </a:solidFill>
                <a:latin typeface="Aptos"/>
                <a:ea typeface="Aptos"/>
                <a:cs typeface="Aptos"/>
              </a:rPr>
              <a:t>Payment to Artisans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D4334F-A551-4CC5-B34D-5E766EA0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433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Foundation pays artisans fair wages for finished products.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67628C-F7D9-41B6-BDF2-1FDD6BA1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935" y="2266950"/>
            <a:ext cx="304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34A6EC-711A-4D6A-A4F8-E1CC7AE8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383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72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5724D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EF0826-BAE6-4649-B596-DCE4CDA3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935" y="2990850"/>
            <a:ext cx="304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072802-C3D1-404A-BFE4-5963EB81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622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72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5724D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51510A-2A03-4E17-BB1F-ABACE59B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935" y="3714750"/>
            <a:ext cx="304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2C66A1-80AE-40B9-8503-4DA0F8B1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6861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72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55724D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6350E3-B158-4667-8885-A22270DD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95450"/>
            <a:ext cx="15621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10001">
            <a:solidFill>
              <a:srgbClr val="C9D8C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7F8C88-7F2B-446A-A184-04AD7910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293F2A"/>
                </a:solidFill>
                <a:latin typeface="Aptos"/>
                <a:ea typeface="Aptos"/>
                <a:cs typeface="Aptos"/>
              </a:defRPr>
            </a:pPr>
            <a:r>
              <a:rPr sz="765" b="1" i="0">
                <a:solidFill>
                  <a:srgbClr val="293F2A"/>
                </a:solidFill>
                <a:latin typeface="Aptos"/>
                <a:ea typeface="Aptos"/>
                <a:cs typeface="Aptos"/>
              </a:rPr>
              <a:t>FOUNDATION PROCUREMENT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4CB616-569E-424F-8ECE-329DA6C6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095500"/>
            <a:ext cx="1276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Foundation procures finished products from artisans and checks quality standards.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24AFBE-3A9D-4277-A8AD-556B6E29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86100"/>
            <a:ext cx="156210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AEED7"/>
          </a:solidFill>
          <a:ln xmlns:a="http://schemas.openxmlformats.org/drawingml/2006/main" w="10001">
            <a:solidFill>
              <a:srgbClr val="E7C98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7DB1D4-0A89-4EEF-B365-3EC1C6B8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004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815B22"/>
                </a:solidFill>
                <a:latin typeface="Aptos"/>
                <a:ea typeface="Aptos"/>
                <a:cs typeface="Aptos"/>
              </a:defRPr>
            </a:pPr>
            <a:r>
              <a:rPr sz="765" b="1" i="0">
                <a:solidFill>
                  <a:srgbClr val="815B22"/>
                </a:solidFill>
                <a:latin typeface="Aptos"/>
                <a:ea typeface="Aptos"/>
                <a:cs typeface="Aptos"/>
              </a:rPr>
              <a:t>COST OF PRODUCTION INVOICE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A66A5B-E721-4DA6-9955-2CFA3D63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486150"/>
            <a:ext cx="1276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Foundation invoices SFPL for total production cost: artisan payments, material, overheads, etc.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625AAC-FDBC-40D3-9050-11CC6B9E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146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815B22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815B22"/>
                </a:solidFill>
                <a:latin typeface="Aptos"/>
                <a:ea typeface="Aptos"/>
                <a:cs typeface="Aptos"/>
              </a:rPr>
              <a:t>TRANSACTION BRIDGE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A75EB9-8DCF-46F0-9ED0-11E2BCF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71750"/>
            <a:ext cx="3048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3F"/>
          </a:solidFill>
          <a:ln xmlns:a="http://schemas.openxmlformats.org/drawingml/2006/main" w="9525">
            <a:solidFill>
              <a:srgbClr val="B9893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D16B32-6ECE-4DC4-B81B-06D49A1D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241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9893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9893F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ECB82B-2E32-4378-87BC-06B77A02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146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B9893F"/>
                </a:solidFill>
                <a:latin typeface="Aptos"/>
                <a:ea typeface="Aptos"/>
                <a:cs typeface="Aptos"/>
              </a:defRPr>
            </a:pPr>
            <a:r>
              <a:rPr sz="570" b="0" i="0">
                <a:solidFill>
                  <a:srgbClr val="B9893F"/>
                </a:solidFill>
                <a:latin typeface="Aptos"/>
                <a:ea typeface="Aptos"/>
                <a:cs typeface="Aptos"/>
              </a:rPr>
              <a:t>invoice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5104F7-BE45-4B93-BB40-5017FB2E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8360"/>
            <a:ext cx="1524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10C991-F41C-477E-94E7-D3482069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28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572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5724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8DCB54-5915-44A6-8465-EC101828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95475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55724D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55724D"/>
                </a:solidFill>
                <a:latin typeface="Aptos"/>
                <a:ea typeface="Aptos"/>
                <a:cs typeface="Aptos"/>
              </a:rPr>
              <a:t>products supplied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28C01A-0868-4607-AEBE-D5DC54CC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18360"/>
            <a:ext cx="1524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F85"/>
          </a:solidFill>
          <a:ln xmlns:a="http://schemas.openxmlformats.org/drawingml/2006/main" w="9525">
            <a:solidFill>
              <a:srgbClr val="2E4F8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7A4F8F-489F-4EC1-8725-294CF082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28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E4F8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E4F8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020F69-8106-49C1-9D4E-481A46DF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95475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2E4F85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2E4F85"/>
                </a:solidFill>
                <a:latin typeface="Aptos"/>
                <a:ea typeface="Aptos"/>
                <a:cs typeface="Aptos"/>
              </a:rPr>
              <a:t>products transferred to SFPL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E3D1B2-62F1-4931-8FAD-6475F06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61435"/>
            <a:ext cx="1524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24D"/>
          </a:solidFill>
          <a:ln xmlns:a="http://schemas.openxmlformats.org/drawingml/2006/main" w="9525">
            <a:solidFill>
              <a:srgbClr val="55724D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C54B0A-0CB1-4B3C-A94F-A09F5BF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71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572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55724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B67EB6-3CA1-4B3C-A4DE-8DC82C7B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55724D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55724D"/>
                </a:solidFill>
                <a:latin typeface="Aptos"/>
                <a:ea typeface="Aptos"/>
                <a:cs typeface="Aptos"/>
              </a:rPr>
              <a:t>SFPL pays Foundation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E29EB7-C234-4746-8B00-9A0AD68D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26479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E2BBC0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3BE65A-90F2-4716-BEFC-59D5E5A9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097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C5EE23-C7FC-4188-B39D-E973E5E0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288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6B0728-A099-4653-BA16-0A04ED40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716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8" b="1" i="0">
                <a:solidFill>
                  <a:srgbClr val="792934"/>
                </a:solidFill>
                <a:latin typeface="Aptos"/>
                <a:ea typeface="Aptos"/>
                <a:cs typeface="Aptos"/>
              </a:defRPr>
            </a:pPr>
            <a:r>
              <a:rPr sz="818" b="1" i="0">
                <a:solidFill>
                  <a:srgbClr val="792934"/>
                </a:solidFill>
                <a:latin typeface="Aptos"/>
                <a:ea typeface="Aptos"/>
                <a:cs typeface="Aptos"/>
              </a:rPr>
              <a:t>Design and Product Development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B14C24-0CC7-4F7D-A6EE-0D678373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716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Market-driven designs, innovation and product diversification.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6EF82D-8428-4D39-B65E-2782B3F7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26479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E2BBC0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514933F-921E-4A49-B620-C5219070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95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59E2ADE-A41F-4BDF-9C03-6F7DC3A8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146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B84B87-8B52-4EE1-AA44-13F14522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574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8" b="1" i="0">
                <a:solidFill>
                  <a:srgbClr val="792934"/>
                </a:solidFill>
                <a:latin typeface="Aptos"/>
                <a:ea typeface="Aptos"/>
                <a:cs typeface="Aptos"/>
              </a:defRPr>
            </a:pPr>
            <a:r>
              <a:rPr sz="818" b="1" i="0">
                <a:solidFill>
                  <a:srgbClr val="792934"/>
                </a:solidFill>
                <a:latin typeface="Aptos"/>
                <a:ea typeface="Aptos"/>
                <a:cs typeface="Aptos"/>
              </a:rPr>
              <a:t>Branding and Packaging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0246B2-EEF0-407C-A81B-D17B414C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574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Brand building, storytelling and premium positioning.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CCE504-2D98-45E2-A737-A0C18C47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26479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E2BBC0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AD7CE1-AC98-4C0D-9107-EE907E06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813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2CBFC0B-9019-426C-A15D-D5B0DA31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2004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1F8FD5-B537-451D-9A55-B6EB2D6E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2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8" b="1" i="0">
                <a:solidFill>
                  <a:srgbClr val="792934"/>
                </a:solidFill>
                <a:latin typeface="Aptos"/>
                <a:ea typeface="Aptos"/>
                <a:cs typeface="Aptos"/>
              </a:defRPr>
            </a:pPr>
            <a:r>
              <a:rPr sz="818" b="1" i="0">
                <a:solidFill>
                  <a:srgbClr val="792934"/>
                </a:solidFill>
                <a:latin typeface="Aptos"/>
                <a:ea typeface="Aptos"/>
                <a:cs typeface="Aptos"/>
              </a:rPr>
              <a:t>Marketing and Sales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532113-BFA6-4E88-9FAA-48E63901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432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D2C online and retail, B2B, corporate gifting, exports and partnerships.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7B7A4E-1132-4156-8C09-6A7F0E04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26479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E2BBC0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4718DB-23B0-49D0-BB49-7737CCCA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67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40A9192-EC9A-4A6F-9406-9D037C2D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886200"/>
            <a:ext cx="285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F58BD00-3FD8-4298-9680-694123C0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29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18" b="1" i="0">
                <a:solidFill>
                  <a:srgbClr val="792934"/>
                </a:solidFill>
                <a:latin typeface="Aptos"/>
                <a:ea typeface="Aptos"/>
                <a:cs typeface="Aptos"/>
              </a:defRPr>
            </a:pPr>
            <a:r>
              <a:rPr sz="818" b="1" i="0">
                <a:solidFill>
                  <a:srgbClr val="792934"/>
                </a:solidFill>
                <a:latin typeface="Aptos"/>
                <a:ea typeface="Aptos"/>
                <a:cs typeface="Aptos"/>
              </a:rPr>
              <a:t>Customer Experience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08BCC7E-D49B-4DB8-8E19-E8F30658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290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Quality assurance, service, repeat engagement and relationships.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E54D4E-175E-4271-9B17-BA3D4798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0002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10001">
            <a:solidFill>
              <a:srgbClr val="BBCBE3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3868DFE-960B-43C3-B5C1-9D49A51D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65" b="1" i="0">
                <a:solidFill>
                  <a:srgbClr val="2E4F85"/>
                </a:solidFill>
                <a:latin typeface="Aptos"/>
                <a:ea typeface="Aptos"/>
                <a:cs typeface="Aptos"/>
              </a:defRPr>
            </a:pPr>
            <a:r>
              <a:rPr sz="765" b="1" i="0">
                <a:solidFill>
                  <a:srgbClr val="2E4F85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9F94984-1C73-47D7-9431-5516FAB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768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623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23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Consumers, interior designers, retailers, corporates, institutions, India and global markets.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547F3E5-19D9-4D2E-95B7-7998E0EC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228850"/>
            <a:ext cx="304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20EEBC-882A-40A8-AE2A-4A61B1B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002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4434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4434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C794910-C722-4AFB-AC6F-35DFA16C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914650"/>
            <a:ext cx="304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934932-67A2-4492-B895-2316152A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86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4434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4434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E0293AB-FD7B-4152-9B01-C7035D31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3600450"/>
            <a:ext cx="304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499627-A28B-4BDC-ACEF-37260EA0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71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4434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4434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953271E-1E3D-412D-A84C-68C04EAB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4286250"/>
            <a:ext cx="3048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34B"/>
          </a:solidFill>
          <a:ln xmlns:a="http://schemas.openxmlformats.org/drawingml/2006/main" w="9525">
            <a:solidFill>
              <a:srgbClr val="A4434B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30DCC7-6CE4-4708-AA1D-0BCA1C78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148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4434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4434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C68814-0454-44FD-913A-D77E9857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482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792934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792934"/>
                </a:solidFill>
                <a:latin typeface="Aptos"/>
                <a:ea typeface="Aptos"/>
                <a:cs typeface="Aptos"/>
              </a:rPr>
              <a:t>REVENUE TO SFPL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4AC2148-31CF-4E7B-ADF9-7662DD7A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00650"/>
            <a:ext cx="2133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Sales revenue earned from customers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08CDC4-78DB-4F8B-8926-D3B974AB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37810"/>
            <a:ext cx="4953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3F"/>
          </a:solidFill>
          <a:ln xmlns:a="http://schemas.openxmlformats.org/drawingml/2006/main" w="9525">
            <a:solidFill>
              <a:srgbClr val="B9893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DBB5908-2209-4D55-9AC2-37833221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482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9893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989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4A77B01-12C3-4D20-9485-02FE34A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1972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585" b="0" i="0">
                <a:solidFill>
                  <a:srgbClr val="B9893F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B9893F"/>
                </a:solidFill>
                <a:latin typeface="Aptos"/>
                <a:ea typeface="Aptos"/>
                <a:cs typeface="Aptos"/>
              </a:rPr>
              <a:t>customers pay SFPL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B58CE35-53E9-4786-B0FA-BE6DF095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066800"/>
            <a:ext cx="1752600" cy="373380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3BCC1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F55813F-87E7-4345-91E7-7B4B233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62050"/>
            <a:ext cx="15621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E9EA"/>
          </a:solidFill>
          <a:ln xmlns:a="http://schemas.openxmlformats.org/drawingml/2006/main" w="9525">
            <a:solidFill>
              <a:srgbClr val="F7E9EA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71B59B3-FEC9-42A4-B46C-E6CF329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209675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95" b="1" i="0">
                <a:solidFill>
                  <a:srgbClr val="792934"/>
                </a:solidFill>
                <a:latin typeface="Aptos"/>
                <a:ea typeface="Aptos"/>
                <a:cs typeface="Aptos"/>
              </a:defRPr>
            </a:pPr>
            <a:r>
              <a:rPr sz="795" b="1" i="0">
                <a:solidFill>
                  <a:srgbClr val="792934"/>
                </a:solidFill>
                <a:latin typeface="Aptos"/>
                <a:ea typeface="Aptos"/>
                <a:cs typeface="Aptos"/>
              </a:rPr>
              <a:t>SFPL ROLE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DD0E786-974F-4283-9F89-8C3C57E1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811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Build market demand and ensure business sustainability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F625DE1-386B-4941-8B45-B26C36B4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145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Expand to new markets and customer segments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8B3894F-AD1A-47BF-9838-31B6B8DC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479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Manage operations efficiently and ensure quality at scale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EE35A0F-6061-4ECD-8540-759E013F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81350"/>
            <a:ext cx="1447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- Generate profits to reinvest in growth and impact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EC1C670-6301-4983-96BF-B0B3CABA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62600"/>
            <a:ext cx="11468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FE4"/>
          </a:solidFill>
          <a:ln xmlns:a="http://schemas.openxmlformats.org/drawingml/2006/main" w="10478">
            <a:solidFill>
              <a:srgbClr val="E4D9C8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01BB595-D79F-4B21-B79A-5B541477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15B2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815B22"/>
                </a:solidFill>
                <a:latin typeface="Aptos"/>
                <a:ea typeface="Aptos"/>
                <a:cs typeface="Aptos"/>
              </a:rPr>
              <a:t>VALUE CREATED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D59AE26-5FD8-4E74-AEFF-45E2C889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95950"/>
            <a:ext cx="18097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BA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8374ACF-AC69-48F7-A57E-C8B823D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435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30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30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Women earn sustainable incomes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013CC7-8756-4122-B678-5F9AB835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95950"/>
            <a:ext cx="185737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BA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3491819-44EF-4948-81F6-CB8F631F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43575"/>
            <a:ext cx="1704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30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30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Traditional crafts are preserved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CF99ABB-A4A3-4420-930B-146D7565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695950"/>
            <a:ext cx="1762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BA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33526D7-6B1A-4C07-BF82-2255C6CA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743575"/>
            <a:ext cx="1609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30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30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Waste materials are upcycled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67D5F67-6C53-491C-A278-C64E21F2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95950"/>
            <a:ext cx="1885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BA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C368EA8-D453-4A07-A68A-F20C00E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4357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30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30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Premium products delight customers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ECA2BD5-37E0-4406-A307-7D907A6C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95950"/>
            <a:ext cx="19431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BA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99ADC20-5727-418F-AB11-D69C785D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43575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630" b="0" i="0">
                <a:solidFill>
                  <a:srgbClr val="5F655F"/>
                </a:solidFill>
                <a:latin typeface="Aptos"/>
                <a:ea typeface="Aptos"/>
                <a:cs typeface="Aptos"/>
              </a:defRPr>
            </a:pPr>
            <a:r>
              <a:rPr sz="630" b="0" i="0">
                <a:solidFill>
                  <a:srgbClr val="5F655F"/>
                </a:solidFill>
                <a:latin typeface="Aptos"/>
                <a:ea typeface="Aptos"/>
                <a:cs typeface="Aptos"/>
              </a:rPr>
              <a:t>Scalable sustainable impact enterprise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200A360-58CD-456C-AF49-EBECFF5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B"/>
          </a:solidFill>
          <a:ln xmlns:a="http://schemas.openxmlformats.org/drawingml/2006/main" w="9525">
            <a:solidFill>
              <a:srgbClr val="17231B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F677105-CAA8-4618-8BFC-8F099CF1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3627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Foundation enables participation. The For-Profit creates market demand.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B366B76-B331-4B87-9EC5-21EEB382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581775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DDE4D8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DDE4D8"/>
                </a:solidFill>
                <a:latin typeface="Aptos"/>
                <a:ea typeface="Aptos"/>
                <a:cs typeface="Aptos"/>
              </a:rPr>
              <a:t>Together, Sirohi creates a sustainable ecosystem that empowers women and builds a better world.</a:t>
            </a:r>
          </a:p>
        </p:txBody>
      </p:sp>
    </p:spTree>
    <p:extLst>
      <p:ext uri="{BB962C8B-B14F-4D97-AF65-F5344CB8AC3E}">
        <p14:creationId xmlns:p14="http://schemas.microsoft.com/office/powerpoint/2010/main" val="896940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2026-06-04T19:47:26.9060000Z</dcterms:created>
  <dcterms:modified xsi:type="dcterms:W3CDTF">2026-06-04T19:47:26.9060000Z</dcterms:modified>
</coreProperties>
</file>