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966c0a088a419f" /><Relationship Type="http://schemas.openxmlformats.org/officeDocument/2006/relationships/extended-properties" Target="/docProps/app.xml" Id="Rf4466da2f91e460b" /><Relationship Type="http://schemas.openxmlformats.org/officeDocument/2006/relationships/officeDocument" Target="/ppt/presentation.xml" Id="Rbcab45f67700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a6e3fe2cec4aa6"/>
  </p:sldMasterIdLst>
  <p:notesMasterIdLst>
    <p:notesMasterId xmlns:r="http://schemas.openxmlformats.org/officeDocument/2006/relationships" r:id="R44a07136a6f44dc1"/>
  </p:notesMasterIdLst>
  <p:sldIdLst>
    <p:sldId xmlns:r="http://schemas.openxmlformats.org/officeDocument/2006/relationships" id="256" r:id="Rdadae3d469124a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6790688fb04278" /><Relationship Type="http://schemas.openxmlformats.org/officeDocument/2006/relationships/slideMaster" Target="/ppt/slideMasters/slideMaster1.xml" Id="R3ba6e3fe2cec4aa6" /><Relationship Type="http://schemas.openxmlformats.org/officeDocument/2006/relationships/notesMaster" Target="/ppt/notesMasters/notesMaster1.xml" Id="R44a07136a6f44dc1" /><Relationship Type="http://schemas.openxmlformats.org/officeDocument/2006/relationships/presProps" Target="/ppt/presProps.xml" Id="Re767fd14c0f2433a" /><Relationship Type="http://schemas.openxmlformats.org/officeDocument/2006/relationships/viewProps" Target="/ppt/viewProps.xml" Id="R975bb2e6d5824fdc" /><Relationship Type="http://schemas.openxmlformats.org/officeDocument/2006/relationships/tableStyles" Target="/ppt/tableStyles.xml" Id="R73f4bc7a2ce144b6" /><Relationship Type="http://schemas.openxmlformats.org/officeDocument/2006/relationships/slide" Target="/ppt/slides/slide1.xml" Id="Rdadae3d469124a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f28975dae40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a9f02db2dd4b9a" /><Relationship Type="http://schemas.openxmlformats.org/officeDocument/2006/relationships/notesMaster" Target="/ppt/notesMasters/notesMaster1.xml" Id="Rb2da10ac9ab9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2e22ac4b740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9dafa53d8f47ac" /><Relationship Type="http://schemas.openxmlformats.org/officeDocument/2006/relationships/slideLayout" Target="/ppt/slideLayouts/slideLayout1.xml" Id="Rd8f7c0abd3d543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f7c0abd3d543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cca37b38040ef" /><Relationship Type="http://schemas.openxmlformats.org/officeDocument/2006/relationships/notesSlide" Target="/ppt/notesSlides/notesSlide1.xml" Id="Rea8aedb4550c4e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8102B1-95FD-4C72-80C3-90BBF3BE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0">
            <a:solidFill>
              <a:srgbClr val="F8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A260-EE14-48A3-88C2-65A1FB5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D2"/>
          </a:solidFill>
          <a:ln xmlns:a="http://schemas.openxmlformats.org/drawingml/2006/main" w="9525">
            <a:solidFill>
              <a:srgbClr val="E2C489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rPr>
              <a:t>SIROHI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A881A-A00B-49AB-A2D6-5484ADD0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76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31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4231B"/>
                </a:solidFill>
                <a:latin typeface="Aptos Display"/>
                <a:ea typeface="Aptos Display"/>
                <a:cs typeface="Aptos Display"/>
              </a:rPr>
              <a:t>Two engines keep one livelihood loop moving.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AD33E-7EA5-4953-AFD5-6509E76B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Foundation builds capability. SFPL builds demand. Artisans stay at the center.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B2781-1A8D-4AA1-8070-BBA681F4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423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4231B"/>
                </a:solidFill>
                <a:latin typeface="Aptos Display"/>
                <a:ea typeface="Aptos Display"/>
                <a:cs typeface="Aptos Display"/>
              </a:rPr>
              <a:t>SIROHI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A4144-FB97-438A-8572-ABD365B9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58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F665F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5F665F"/>
                </a:solidFill>
                <a:latin typeface="Aptos Display"/>
                <a:ea typeface="Aptos Display"/>
                <a:cs typeface="Aptos Display"/>
              </a:rPr>
              <a:t>MADE BY WOMEN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3F35B-422D-40A0-9B8F-E1440049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781300" cy="3162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70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94DD2-A86C-4CA3-AB09-5AE67F9A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781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5"/>
          </a:solidFill>
          <a:ln xmlns:a="http://schemas.openxmlformats.org/drawingml/2006/main" w="0">
            <a:solidFill>
              <a:srgbClr val="4F7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C3A4B-B517-4623-A2B5-A1EF5997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F2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63F29"/>
                </a:solidFill>
                <a:latin typeface="Aptos Display"/>
                <a:ea typeface="Aptos Display"/>
                <a:cs typeface="Aptos Display"/>
              </a:rPr>
              <a:t>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0B773-548F-46C1-9B57-DD12E9CA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5"/>
          </a:solidFill>
          <a:ln xmlns:a="http://schemas.openxmlformats.org/drawingml/2006/main" w="9525">
            <a:solidFill>
              <a:srgbClr val="4F7045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rPr>
              <a:t>Capability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45085-219B-4763-951D-64BED385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045"/>
          </a:solidFill>
          <a:ln xmlns:a="http://schemas.openxmlformats.org/drawingml/2006/main" w="0">
            <a:solidFill>
              <a:srgbClr val="4F7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CB32E-A32D-4E10-B6FB-89F86872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Mobilise rural and underserved women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B61E7-672C-4B7C-8BD6-AB7941C8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045"/>
          </a:solidFill>
          <a:ln xmlns:a="http://schemas.openxmlformats.org/drawingml/2006/main" w="0">
            <a:solidFill>
              <a:srgbClr val="4F70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13DF1-FAE9-403A-B5D4-9EECCCBE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Train in craft, design, quality and 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AA636-7A77-4720-85F2-9166D4E9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045"/>
          </a:solidFill>
          <a:ln xmlns:a="http://schemas.openxmlformats.org/drawingml/2006/main" w="0">
            <a:solidFill>
              <a:srgbClr val="4F70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F2FBE-FC12-47C7-BB7A-E67D830C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Safeguard fair working conditions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C5595-D10F-47CF-B520-E0300B66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045"/>
          </a:solidFill>
          <a:ln xmlns:a="http://schemas.openxmlformats.org/drawingml/2006/main" w="0">
            <a:solidFill>
              <a:srgbClr val="4F70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D5C3B-64A8-441A-9C56-B3BAC871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Procure finished goods and check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32DC7-2D02-444C-BF52-2170E32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33550"/>
            <a:ext cx="2781300" cy="3162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43A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1E680-A651-49C2-B5FC-FC268835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33550"/>
            <a:ext cx="2781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A45"/>
          </a:solidFill>
          <a:ln xmlns:a="http://schemas.openxmlformats.org/drawingml/2006/main" w="0">
            <a:solidFill>
              <a:srgbClr val="A43A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72749-6607-41F0-938D-AF335BBA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621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202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E2029"/>
                </a:solidFill>
                <a:latin typeface="Aptos Display"/>
                <a:ea typeface="Aptos Display"/>
                <a:cs typeface="Aptos Display"/>
              </a:rPr>
              <a:t>SFPL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C6DD4-5317-48FB-B8BA-2A0DD1B4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A"/>
          </a:solidFill>
          <a:ln xmlns:a="http://schemas.openxmlformats.org/drawingml/2006/main" w="9525">
            <a:solidFill>
              <a:srgbClr val="A43A45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A43A45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A43A45"/>
                </a:solidFill>
                <a:latin typeface="Aptos Display"/>
                <a:ea typeface="Aptos Display"/>
                <a:cs typeface="Aptos Display"/>
              </a:rPr>
              <a:t>Demand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9A52D-C946-4536-923F-4E4D080B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A45"/>
          </a:solidFill>
          <a:ln xmlns:a="http://schemas.openxmlformats.org/drawingml/2006/main" w="0">
            <a:solidFill>
              <a:srgbClr val="A43A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AD110-78AE-4683-BF74-CAA3816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Create market-driven product lines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E6499-F8E8-4E97-9171-2CA24700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A45"/>
          </a:solidFill>
          <a:ln xmlns:a="http://schemas.openxmlformats.org/drawingml/2006/main" w="0">
            <a:solidFill>
              <a:srgbClr val="A43A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24D33-6F0A-497E-8E68-90BED55D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Build brand, packaging and premium positioning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B7E1F-EEEB-426F-AE17-BB135447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A45"/>
          </a:solidFill>
          <a:ln xmlns:a="http://schemas.openxmlformats.org/drawingml/2006/main" w="0">
            <a:solidFill>
              <a:srgbClr val="A43A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DFDA3-247D-4D82-966E-08F45210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Sell through D2C, B2B, gifting and exports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0C00A4-F763-46B8-8FA5-47D2916F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A45"/>
          </a:solidFill>
          <a:ln xmlns:a="http://schemas.openxmlformats.org/drawingml/2006/main" w="0">
            <a:solidFill>
              <a:srgbClr val="A43A4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75FAA-BB0C-4BCE-95E8-44AD211D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Manage customer experience and scale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68C1AC-234D-4DED-89FF-DBED52F5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5242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BF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7AD88C-757D-406D-87CE-BED2AB9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257175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5"/>
          </a:solidFill>
          <a:ln xmlns:a="http://schemas.openxmlformats.org/drawingml/2006/main" w="19050">
            <a:solidFill>
              <a:srgbClr val="4F70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53A89-F480-419B-AD3B-EDAC9D9D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908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F2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63F29"/>
                </a:solidFill>
                <a:latin typeface="Aptos Display"/>
                <a:ea typeface="Aptos Display"/>
                <a:cs typeface="Aptos Display"/>
              </a:rPr>
              <a:t>WOMEN ARTISANS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54A8F3-E0BC-4922-8A80-26D6DF7F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Empowered. Skilled. Employed.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E7415-D9D5-4232-891D-A50C7C05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E5"/>
          </a:solidFill>
          <a:ln xmlns:a="http://schemas.openxmlformats.org/drawingml/2006/main" w="9525">
            <a:solidFill>
              <a:srgbClr val="4F70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D85295-7C13-4CB1-9F93-B04D56CE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rPr>
              <a:t>fair work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D3F394-1BD2-4829-B5EA-F7918156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1F6"/>
          </a:solidFill>
          <a:ln xmlns:a="http://schemas.openxmlformats.org/drawingml/2006/main" w="9525">
            <a:solidFill>
              <a:srgbClr val="1E587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AB1E19-CC71-4162-9DF1-CBD1A01F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587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E587C"/>
                </a:solidFill>
                <a:latin typeface="Aptos Display"/>
                <a:ea typeface="Aptos Display"/>
                <a:cs typeface="Aptos Display"/>
              </a:rPr>
              <a:t>handmade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BAD63D-5AEA-479D-92A7-81839D3E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933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7045"/>
          </a:solidFill>
          <a:ln xmlns:a="http://schemas.openxmlformats.org/drawingml/2006/main" w="0">
            <a:solidFill>
              <a:srgbClr val="4F70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9E28A6-3967-4189-997C-D6CFE3F3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rPr>
              <a:t>training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392FAD-5D16-4196-BEFD-98493E64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9334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E587C"/>
          </a:solidFill>
          <a:ln xmlns:a="http://schemas.openxmlformats.org/drawingml/2006/main" w="0">
            <a:solidFill>
              <a:srgbClr val="1E587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B96D4B-EB89-4C52-BC4E-66B7B798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E587C"/>
                </a:solidFill>
                <a:latin typeface="Aptos Display"/>
                <a:ea typeface="Aptos Display"/>
                <a:cs typeface="Aptos Display"/>
              </a:defRPr>
            </a:pPr>
            <a:r>
              <a:rPr sz="765" b="1">
                <a:solidFill>
                  <a:srgbClr val="1E587C"/>
                </a:solidFill>
                <a:latin typeface="Aptos Display"/>
                <a:ea typeface="Aptos Display"/>
                <a:cs typeface="Aptos Display"/>
              </a:rPr>
              <a:t>finished goods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A888B6-E265-440E-A11E-895B6C28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1409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87C"/>
          </a:solidFill>
          <a:ln xmlns:a="http://schemas.openxmlformats.org/drawingml/2006/main" w="0">
            <a:solidFill>
              <a:srgbClr val="1E587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FA40B7-9F7D-4DC7-91C2-BC2F5E0C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908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E587C"/>
                </a:solidFill>
                <a:latin typeface="Aptos Display"/>
                <a:ea typeface="Aptos Display"/>
                <a:cs typeface="Aptos Display"/>
              </a:defRPr>
            </a:pPr>
            <a:r>
              <a:rPr sz="765" b="1">
                <a:solidFill>
                  <a:srgbClr val="1E587C"/>
                </a:solidFill>
                <a:latin typeface="Aptos Display"/>
                <a:ea typeface="Aptos Display"/>
                <a:cs typeface="Aptos Display"/>
              </a:rPr>
              <a:t>quality goods to SFPL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6F919C-F23E-4B5D-81C6-97B73CF7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876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43A45"/>
          </a:solidFill>
          <a:ln xmlns:a="http://schemas.openxmlformats.org/drawingml/2006/main" w="0">
            <a:solidFill>
              <a:srgbClr val="A43A4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163B26-ECBF-4750-9B2C-2AC3DDB7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A43A45"/>
                </a:solidFill>
                <a:latin typeface="Aptos Display"/>
                <a:ea typeface="Aptos Display"/>
                <a:cs typeface="Aptos Display"/>
              </a:defRPr>
            </a:pPr>
            <a:r>
              <a:rPr sz="765" b="1">
                <a:solidFill>
                  <a:srgbClr val="A43A45"/>
                </a:solidFill>
                <a:latin typeface="Aptos Display"/>
                <a:ea typeface="Aptos Display"/>
                <a:cs typeface="Aptos Display"/>
              </a:rPr>
              <a:t>market sales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847663-91F8-4EB1-AD60-79B98A23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3276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DD2"/>
          </a:solidFill>
          <a:ln xmlns:a="http://schemas.openxmlformats.org/drawingml/2006/main" w="13335">
            <a:solidFill>
              <a:srgbClr val="DDBD7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C3AFD3-81B4-4857-8998-63AAC301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01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rPr>
              <a:t>COST-OF-PRODUCTION BRIDGE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3FB828-EC4E-4A27-8001-7AB3900E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768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F665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665F"/>
                </a:solidFill>
                <a:latin typeface="Aptos"/>
                <a:ea typeface="Aptos"/>
                <a:cs typeface="Aptos"/>
              </a:rPr>
              <a:t>SFPL pays Foundation for artisan wages, materials and overheads.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E22799-3A59-4CAB-8E2B-5885B6AE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86300"/>
            <a:ext cx="10668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07B2B"/>
          </a:solidFill>
          <a:ln xmlns:a="http://schemas.openxmlformats.org/drawingml/2006/main" w="0">
            <a:solidFill>
              <a:srgbClr val="B07B2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7194C9-FDFF-425D-B96B-14E48BE0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86300"/>
            <a:ext cx="10668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07B2B"/>
          </a:solidFill>
          <a:ln xmlns:a="http://schemas.openxmlformats.org/drawingml/2006/main" w="0">
            <a:solidFill>
              <a:srgbClr val="B07B2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FF2BA5-8499-4CF6-88B5-625B94D7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720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defRPr>
            </a:pPr>
            <a:r>
              <a:rPr sz="765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rPr>
              <a:t>fair wages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77847A-EAC2-49FB-BD81-45C333C1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720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defRPr>
            </a:pPr>
            <a:r>
              <a:rPr sz="765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rPr>
              <a:t>invoice paid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C1201B-8E46-4EDE-AE40-7D28CA1A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04950"/>
            <a:ext cx="3524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31B"/>
          </a:solidFill>
          <a:ln xmlns:a="http://schemas.openxmlformats.org/drawingml/2006/main" w="0">
            <a:solidFill>
              <a:srgbClr val="14231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50C3A6-83C6-43E2-8594-9BDA8A1E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1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CUSTOMERS: consumers, designers, retailers, corporates and institutions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C485E3-E8EF-44EE-A30B-9E61B1A1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95450"/>
            <a:ext cx="11811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A43A45"/>
          </a:solidFill>
          <a:ln xmlns:a="http://schemas.openxmlformats.org/drawingml/2006/main" w="0">
            <a:solidFill>
              <a:srgbClr val="A43A4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00B5AC-9F1B-48DB-8C50-70E5FE35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525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A43A45"/>
                </a:solidFill>
                <a:latin typeface="Aptos Display"/>
                <a:ea typeface="Aptos Display"/>
                <a:cs typeface="Aptos Display"/>
              </a:defRPr>
            </a:pPr>
            <a:r>
              <a:rPr sz="765" b="1">
                <a:solidFill>
                  <a:srgbClr val="A43A45"/>
                </a:solidFill>
                <a:latin typeface="Aptos Display"/>
                <a:ea typeface="Aptos Display"/>
                <a:cs typeface="Aptos Display"/>
              </a:rPr>
              <a:t>revenue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F52603-A534-4CA3-AE4E-2EE9125D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1010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B295D6-F6B4-494A-AA0A-6FF9CAF1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735018"/>
                </a:solidFill>
                <a:latin typeface="Aptos Display"/>
                <a:ea typeface="Aptos Display"/>
                <a:cs typeface="Aptos Display"/>
              </a:rPr>
              <a:t>VALUE CREATED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52B6BC-D30D-46BA-97A1-A34DCA6C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15000"/>
            <a:ext cx="1466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1AB0A0-AC39-4E13-89EB-A5B9649A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15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5"/>
          </a:solidFill>
          <a:ln xmlns:a="http://schemas.openxmlformats.org/drawingml/2006/main" w="0">
            <a:solidFill>
              <a:srgbClr val="4F704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8903D4-73E7-46B8-9FE8-8801C303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38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rPr>
              <a:t>sustainable incomes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A2C116-C54A-447C-B3C1-D3F7C65A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15000"/>
            <a:ext cx="1466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0CDF98-6BBC-4059-BAFD-A91F032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15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B2B"/>
          </a:solidFill>
          <a:ln xmlns:a="http://schemas.openxmlformats.org/drawingml/2006/main" w="0">
            <a:solidFill>
              <a:srgbClr val="B07B2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5D2C88-C769-4C00-8E47-4B80E12C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38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07B2B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07B2B"/>
                </a:solidFill>
                <a:latin typeface="Aptos Display"/>
                <a:ea typeface="Aptos Display"/>
                <a:cs typeface="Aptos Display"/>
              </a:rPr>
              <a:t>craft preservation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0BCAAD-B341-4D9B-9355-404C87C7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715000"/>
            <a:ext cx="1466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D4D14F-03C1-429A-BDE9-948C1FC4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715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87C"/>
          </a:solidFill>
          <a:ln xmlns:a="http://schemas.openxmlformats.org/drawingml/2006/main" w="0">
            <a:solidFill>
              <a:srgbClr val="1E587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6415333-7D32-4998-9972-1E5B1B9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838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587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E587C"/>
                </a:solidFill>
                <a:latin typeface="Aptos Display"/>
                <a:ea typeface="Aptos Display"/>
                <a:cs typeface="Aptos Display"/>
              </a:rPr>
              <a:t>responsible upcycling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E6B0F6-34CD-4583-AAC0-1D358CFF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15000"/>
            <a:ext cx="1466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E21E755-53D5-4213-8DAC-CA69E929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15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A45"/>
          </a:solidFill>
          <a:ln xmlns:a="http://schemas.openxmlformats.org/drawingml/2006/main" w="0">
            <a:solidFill>
              <a:srgbClr val="A43A4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8F01A5-4301-4667-B980-2CE54FE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838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43A45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A43A45"/>
                </a:solidFill>
                <a:latin typeface="Aptos Display"/>
                <a:ea typeface="Aptos Display"/>
                <a:cs typeface="Aptos Display"/>
              </a:rPr>
              <a:t>premium products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6D3308-E7CD-4EA2-9577-6D3685ED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15000"/>
            <a:ext cx="1466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0C9CE71-0196-4980-81EE-81F2BCFB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15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5"/>
          </a:solidFill>
          <a:ln xmlns:a="http://schemas.openxmlformats.org/drawingml/2006/main" w="0">
            <a:solidFill>
              <a:srgbClr val="4F70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A8A3812-2BBD-4A2F-AFF5-66BE0F5F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388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4F7045"/>
                </a:solidFill>
                <a:latin typeface="Aptos Display"/>
                <a:ea typeface="Aptos Display"/>
                <a:cs typeface="Aptos Display"/>
              </a:rPr>
              <a:t>scalable impact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447CC2-08B5-42C1-9AF6-C4CEB26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9"/>
          </a:solidFill>
          <a:ln xmlns:a="http://schemas.openxmlformats.org/drawingml/2006/main" w="0">
            <a:solidFill>
              <a:srgbClr val="DED7C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114627-66D3-46AB-B5D1-9D25FF8D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7A817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7A817B"/>
                </a:solidFill>
                <a:latin typeface="Aptos"/>
                <a:ea typeface="Aptos"/>
                <a:cs typeface="Aptos"/>
              </a:rPr>
              <a:t>Source: user-provided model. Fresh one-page composition; no previous slide used.</a:t>
            </a:r>
          </a:p>
        </p:txBody>
      </p:sp>
    </p:spTree>
    <p:extLst>
      <p:ext uri="{BB962C8B-B14F-4D97-AF65-F5344CB8AC3E}">
        <p14:creationId xmlns:p14="http://schemas.microsoft.com/office/powerpoint/2010/main" val="58965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2026-06-04T19:57:07.8290000Z</dcterms:created>
  <dcterms:modified xsi:type="dcterms:W3CDTF">2026-06-04T19:57:07.8290000Z</dcterms:modified>
</coreProperties>
</file>