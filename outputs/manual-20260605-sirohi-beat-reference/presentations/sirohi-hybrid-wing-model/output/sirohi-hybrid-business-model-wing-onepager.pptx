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ca3ce0f1174948" /><Relationship Type="http://schemas.openxmlformats.org/officeDocument/2006/relationships/extended-properties" Target="/docProps/app.xml" Id="R055ca5bbf8104568" /><Relationship Type="http://schemas.openxmlformats.org/officeDocument/2006/relationships/officeDocument" Target="/ppt/presentation.xml" Id="Ra7ca842819f54f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fdfac5854c4441"/>
  </p:sldMasterIdLst>
  <p:notesMasterIdLst>
    <p:notesMasterId xmlns:r="http://schemas.openxmlformats.org/officeDocument/2006/relationships" r:id="Rf67e65e3387f4d8f"/>
  </p:notesMasterIdLst>
  <p:sldIdLst>
    <p:sldId xmlns:r="http://schemas.openxmlformats.org/officeDocument/2006/relationships" id="256" r:id="R85d0f065caba4b1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3896da0c5e4ab8" /><Relationship Type="http://schemas.openxmlformats.org/officeDocument/2006/relationships/slideMaster" Target="/ppt/slideMasters/slideMaster1.xml" Id="R56fdfac5854c4441" /><Relationship Type="http://schemas.openxmlformats.org/officeDocument/2006/relationships/notesMaster" Target="/ppt/notesMasters/notesMaster1.xml" Id="Rf67e65e3387f4d8f" /><Relationship Type="http://schemas.openxmlformats.org/officeDocument/2006/relationships/presProps" Target="/ppt/presProps.xml" Id="Re685f37a9bbe483b" /><Relationship Type="http://schemas.openxmlformats.org/officeDocument/2006/relationships/viewProps" Target="/ppt/viewProps.xml" Id="Recb85398a1ef42ab" /><Relationship Type="http://schemas.openxmlformats.org/officeDocument/2006/relationships/tableStyles" Target="/ppt/tableStyles.xml" Id="R4786b42065b34b1d" /><Relationship Type="http://schemas.openxmlformats.org/officeDocument/2006/relationships/slide" Target="/ppt/slides/slide1.xml" Id="R85d0f065caba4b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d4907e65b54c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fd72bfaa1e4dfc" /><Relationship Type="http://schemas.openxmlformats.org/officeDocument/2006/relationships/notesMaster" Target="/ppt/notesMasters/notesMaster1.xml" Id="R0296be92adbb49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53715da93048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096f0308334385" /><Relationship Type="http://schemas.openxmlformats.org/officeDocument/2006/relationships/slideLayout" Target="/ppt/slideLayouts/slideLayout1.xml" Id="Re244e5a5c10f47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44e5a5c10f47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0d313f9ec4322" /><Relationship Type="http://schemas.openxmlformats.org/officeDocument/2006/relationships/notesSlide" Target="/ppt/notesSlides/notesSlide1.xml" Id="Rf4d651dadca14fb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6F8614-E6CF-4739-8D78-F1A3ABEC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D"/>
          </a:solidFill>
          <a:ln xmlns:a="http://schemas.openxmlformats.org/drawingml/2006/main" w="0">
            <a:solidFill>
              <a:srgbClr val="F8F5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07568-4D39-4380-98BC-413AFEA4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2018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22018"/>
                </a:solidFill>
                <a:latin typeface="Aptos Display"/>
                <a:ea typeface="Aptos Display"/>
                <a:cs typeface="Aptos Display"/>
              </a:rPr>
              <a:t>SIROHI HYBRID BUSINESS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7052E-EFB1-47C3-A82B-28AADB75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7700"/>
            <a:ext cx="704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9625C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59625C"/>
                </a:solidFill>
                <a:latin typeface="Aptos Display"/>
                <a:ea typeface="Aptos Display"/>
                <a:cs typeface="Aptos Display"/>
              </a:rPr>
              <a:t>Two entities. One livelihood engine. Market demand funds sustainable artisan income.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A8ADC-E4DB-4E89-9022-FAE40C89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670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2201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22018"/>
                </a:solidFill>
                <a:latin typeface="Aptos Display"/>
                <a:ea typeface="Aptos Display"/>
                <a:cs typeface="Aptos Display"/>
              </a:rPr>
              <a:t>SIROHI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94757-24A2-47B7-9DDE-1598E397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5245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59625C"/>
                </a:solidFill>
                <a:latin typeface="Aptos Display"/>
                <a:ea typeface="Aptos Display"/>
                <a:cs typeface="Aptos Display"/>
              </a:defRPr>
            </a:pPr>
            <a:r>
              <a:rPr sz="675" b="1">
                <a:solidFill>
                  <a:srgbClr val="59625C"/>
                </a:solidFill>
                <a:latin typeface="Aptos Display"/>
                <a:ea typeface="Aptos Display"/>
                <a:cs typeface="Aptos Display"/>
              </a:rPr>
              <a:t>MADE BY WOMEN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C1AD5-EAC4-49A5-8765-0930D36B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2724150" cy="38481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96B3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5B960-AEF9-42F2-A2BE-53EEA62B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27241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B3E"/>
          </a:solidFill>
          <a:ln xmlns:a="http://schemas.openxmlformats.org/drawingml/2006/main" w="0">
            <a:solidFill>
              <a:srgbClr val="496B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20FEA-5388-44CE-9887-15A60564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23B23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23B23"/>
                </a:solidFill>
                <a:latin typeface="Aptos Display"/>
                <a:ea typeface="Aptos Display"/>
                <a:cs typeface="Aptos Display"/>
              </a:rPr>
              <a:t>SIROHI 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42775-6945-4F2F-BDCE-D79387FA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E3"/>
          </a:solidFill>
          <a:ln xmlns:a="http://schemas.openxmlformats.org/drawingml/2006/main" w="9525">
            <a:solidFill>
              <a:srgbClr val="496B3E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496B3E"/>
                </a:solidFill>
                <a:latin typeface="Aptos Display"/>
                <a:ea typeface="Aptos Display"/>
                <a:cs typeface="Aptos Display"/>
              </a:defRPr>
            </a:pPr>
            <a:r>
              <a:rPr sz="855" b="1">
                <a:solidFill>
                  <a:srgbClr val="496B3E"/>
                </a:solidFill>
                <a:latin typeface="Aptos Display"/>
                <a:ea typeface="Aptos Display"/>
                <a:cs typeface="Aptos Display"/>
              </a:rPr>
              <a:t>NPO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E2900-A14A-418F-8608-3234AD44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496B3E"/>
                </a:solidFill>
                <a:latin typeface="Aptos Display"/>
                <a:ea typeface="Aptos Display"/>
                <a:cs typeface="Aptos Display"/>
              </a:defRPr>
            </a:pPr>
            <a:r>
              <a:rPr sz="923" b="1">
                <a:solidFill>
                  <a:srgbClr val="496B3E"/>
                </a:solidFill>
                <a:latin typeface="Aptos Display"/>
                <a:ea typeface="Aptos Display"/>
                <a:cs typeface="Aptos Display"/>
              </a:rPr>
              <a:t>Inclusion &amp; Capability Building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CB0C0-54DB-423D-B54A-719C9A88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3E"/>
          </a:solidFill>
          <a:ln xmlns:a="http://schemas.openxmlformats.org/drawingml/2006/main" w="0">
            <a:solidFill>
              <a:srgbClr val="496B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6BEC2-C802-4B1E-9C99-FE86E277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9625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9625C"/>
                </a:solidFill>
                <a:latin typeface="Aptos"/>
                <a:ea typeface="Aptos"/>
                <a:cs typeface="Aptos"/>
              </a:rPr>
              <a:t>Mobilise women artisans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B6959-797D-4651-ADED-4AA7E6F9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3E"/>
          </a:solidFill>
          <a:ln xmlns:a="http://schemas.openxmlformats.org/drawingml/2006/main" w="0">
            <a:solidFill>
              <a:srgbClr val="496B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FD19B-0763-49E6-A76D-E34E4D1A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9625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9625C"/>
                </a:solidFill>
                <a:latin typeface="Aptos"/>
                <a:ea typeface="Aptos"/>
                <a:cs typeface="Aptos"/>
              </a:rPr>
              <a:t>Train craft + 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59AE4-6154-4EF5-AC4B-64A661F0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3E"/>
          </a:solidFill>
          <a:ln xmlns:a="http://schemas.openxmlformats.org/drawingml/2006/main" w="0">
            <a:solidFill>
              <a:srgbClr val="496B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D8BC9-6BF5-41D9-A1B4-88B33766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9625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9625C"/>
                </a:solidFill>
                <a:latin typeface="Aptos"/>
                <a:ea typeface="Aptos"/>
                <a:cs typeface="Aptos"/>
              </a:rPr>
              <a:t>Safeguard fair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E4D04-7D82-4A25-A27C-9450B0A9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3E"/>
          </a:solidFill>
          <a:ln xmlns:a="http://schemas.openxmlformats.org/drawingml/2006/main" w="0">
            <a:solidFill>
              <a:srgbClr val="496B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8567D9-096D-47EC-A678-2A0B435F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9625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9625C"/>
                </a:solidFill>
                <a:latin typeface="Aptos"/>
                <a:ea typeface="Aptos"/>
                <a:cs typeface="Aptos"/>
              </a:rPr>
              <a:t>Procure + quality-check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5D689-EC0E-4469-ACDC-9649FA71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2266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0E3"/>
          </a:solidFill>
          <a:ln xmlns:a="http://schemas.openxmlformats.org/drawingml/2006/main" w="9525">
            <a:solidFill>
              <a:srgbClr val="496B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13FE62-BC41-4105-AFAA-2B86B46D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00575"/>
            <a:ext cx="2076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223B23"/>
                </a:solidFill>
                <a:latin typeface="Aptos Display"/>
                <a:ea typeface="Aptos Display"/>
                <a:cs typeface="Aptos Display"/>
              </a:defRPr>
            </a:pPr>
            <a:r>
              <a:rPr sz="803" b="1">
                <a:solidFill>
                  <a:srgbClr val="223B23"/>
                </a:solidFill>
                <a:latin typeface="Aptos Display"/>
                <a:ea typeface="Aptos Display"/>
                <a:cs typeface="Aptos Display"/>
              </a:rPr>
              <a:t>Pays fair wages through Foundation process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EBE836-5B48-4D4A-AFE7-9879BA1D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0150"/>
            <a:ext cx="2724150" cy="38481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C3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D548E6-8D1E-4C59-9A48-31B72CED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0150"/>
            <a:ext cx="27241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340"/>
          </a:solidFill>
          <a:ln xmlns:a="http://schemas.openxmlformats.org/drawingml/2006/main" w="0">
            <a:solidFill>
              <a:srgbClr val="9C3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B817A2-E8AE-4CB4-92A6-B73096EF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66850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1C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641C27"/>
                </a:solidFill>
                <a:latin typeface="Aptos Display"/>
                <a:ea typeface="Aptos Display"/>
                <a:cs typeface="Aptos Display"/>
              </a:rPr>
              <a:t>SFPL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682E4B-0117-45D5-87FD-81A05820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52600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1E4"/>
          </a:solidFill>
          <a:ln xmlns:a="http://schemas.openxmlformats.org/drawingml/2006/main" w="9525">
            <a:solidFill>
              <a:srgbClr val="9C3340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9C3340"/>
                </a:solidFill>
                <a:latin typeface="Aptos Display"/>
                <a:ea typeface="Aptos Display"/>
                <a:cs typeface="Aptos Display"/>
              </a:defRPr>
            </a:pPr>
            <a:r>
              <a:rPr sz="855" b="1">
                <a:solidFill>
                  <a:srgbClr val="9C3340"/>
                </a:solidFill>
                <a:latin typeface="Aptos Display"/>
                <a:ea typeface="Aptos Display"/>
                <a:cs typeface="Aptos Display"/>
              </a:rPr>
              <a:t>PVT. LTD.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9EC0E2-CF0F-4995-BEFB-8C2266AD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574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9C3340"/>
                </a:solidFill>
                <a:latin typeface="Aptos Display"/>
                <a:ea typeface="Aptos Display"/>
                <a:cs typeface="Aptos Display"/>
              </a:defRPr>
            </a:pPr>
            <a:r>
              <a:rPr sz="923" b="1">
                <a:solidFill>
                  <a:srgbClr val="9C3340"/>
                </a:solidFill>
                <a:latin typeface="Aptos Display"/>
                <a:ea typeface="Aptos Display"/>
                <a:cs typeface="Aptos Display"/>
              </a:rPr>
              <a:t>Commercial Arm, For-Profit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34FBD0-1C38-4EA6-BD85-FE19C463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3340"/>
          </a:solidFill>
          <a:ln xmlns:a="http://schemas.openxmlformats.org/drawingml/2006/main" w="0">
            <a:solidFill>
              <a:srgbClr val="9C3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5C9E83-2252-4F33-9757-A580E743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527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9625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9625C"/>
                </a:solidFill>
                <a:latin typeface="Aptos"/>
                <a:ea typeface="Aptos"/>
                <a:cs typeface="Aptos"/>
              </a:rPr>
              <a:t>Design market-led products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6AAB72-E435-4AD7-9925-E6492D01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3340"/>
          </a:solidFill>
          <a:ln xmlns:a="http://schemas.openxmlformats.org/drawingml/2006/main" w="0">
            <a:solidFill>
              <a:srgbClr val="9C33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9FF997-7A2E-4E8B-8DB6-28DB53FF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9625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9625C"/>
                </a:solidFill>
                <a:latin typeface="Aptos"/>
                <a:ea typeface="Aptos"/>
                <a:cs typeface="Aptos"/>
              </a:rPr>
              <a:t>Build brand + packaging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ABB332-E1FE-4C15-BB58-463552BB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9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3340"/>
          </a:solidFill>
          <a:ln xmlns:a="http://schemas.openxmlformats.org/drawingml/2006/main" w="0">
            <a:solidFill>
              <a:srgbClr val="9C33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66DE9A-7661-4F6F-B309-7C4C0798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528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9625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9625C"/>
                </a:solidFill>
                <a:latin typeface="Aptos"/>
                <a:ea typeface="Aptos"/>
                <a:cs typeface="Aptos"/>
              </a:rPr>
              <a:t>Sell D2C, B2B, gifting, exports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3B0BD9-3757-47A5-9AF4-81A118DB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3340"/>
          </a:solidFill>
          <a:ln xmlns:a="http://schemas.openxmlformats.org/drawingml/2006/main" w="0">
            <a:solidFill>
              <a:srgbClr val="9C334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7A5CF0-D0EA-4295-83E5-CD650859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528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9625C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9625C"/>
                </a:solidFill>
                <a:latin typeface="Aptos"/>
                <a:ea typeface="Aptos"/>
                <a:cs typeface="Aptos"/>
              </a:rPr>
              <a:t>Serve customers + scale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54E335-168E-4816-B185-1438EF9D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14850"/>
            <a:ext cx="2266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E1E4"/>
          </a:solidFill>
          <a:ln xmlns:a="http://schemas.openxmlformats.org/drawingml/2006/main" w="9525">
            <a:solidFill>
              <a:srgbClr val="9C334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8111F0-287E-44A3-B8FF-8864A54D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00575"/>
            <a:ext cx="2076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641C27"/>
                </a:solidFill>
                <a:latin typeface="Aptos Display"/>
                <a:ea typeface="Aptos Display"/>
                <a:cs typeface="Aptos Display"/>
              </a:defRPr>
            </a:pPr>
            <a:r>
              <a:rPr sz="803" b="1">
                <a:solidFill>
                  <a:srgbClr val="641C27"/>
                </a:solidFill>
                <a:latin typeface="Aptos Display"/>
                <a:ea typeface="Aptos Display"/>
                <a:cs typeface="Aptos Display"/>
              </a:rPr>
              <a:t>Generates revenue and reinvestable profit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8B9E15-4B6F-44EE-AD1E-18C1A0EA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19200"/>
            <a:ext cx="466725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2383">
            <a:solidFill>
              <a:srgbClr val="E1D8C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4F691C-BD00-4206-8F04-CEC36743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44780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04B1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704B16"/>
                </a:solidFill>
                <a:latin typeface="Aptos Display"/>
                <a:ea typeface="Aptos Display"/>
                <a:cs typeface="Aptos Display"/>
              </a:rPr>
              <a:t>THE LIVELIHOOD ENGINE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EC20FC-5938-46CF-9F29-5936BA71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9070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BAF"/>
          </a:solidFill>
          <a:ln xmlns:a="http://schemas.openxmlformats.org/drawingml/2006/main" w="0">
            <a:solidFill>
              <a:srgbClr val="DDCBA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5AFE95-B1AB-4922-BD97-CC450E09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38350"/>
            <a:ext cx="266700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E3"/>
          </a:solidFill>
          <a:ln xmlns:a="http://schemas.openxmlformats.org/drawingml/2006/main" w="20955">
            <a:solidFill>
              <a:srgbClr val="496B3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479B6F-C17D-4176-8396-0244B9E8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241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3B2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23B23"/>
                </a:solidFill>
                <a:latin typeface="Aptos Display"/>
                <a:ea typeface="Aptos Display"/>
                <a:cs typeface="Aptos Display"/>
              </a:rPr>
              <a:t>WOMEN ARTISANS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1D6854-A2C5-479E-87C9-9B1173FA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289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59625C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9625C"/>
                </a:solidFill>
                <a:latin typeface="Aptos"/>
                <a:ea typeface="Aptos"/>
                <a:cs typeface="Aptos"/>
              </a:rPr>
              <a:t>empowered | skilled | employed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4026C3-63B6-4E05-BE2D-8257B614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5280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0E3"/>
          </a:solidFill>
          <a:ln xmlns:a="http://schemas.openxmlformats.org/drawingml/2006/main" w="9525">
            <a:solidFill>
              <a:srgbClr val="496B3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551FE4-5B86-4908-9E50-E63C1771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19475"/>
            <a:ext cx="971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496B3E"/>
                </a:solidFill>
                <a:latin typeface="Aptos Display"/>
                <a:ea typeface="Aptos Display"/>
                <a:cs typeface="Aptos Display"/>
              </a:defRPr>
            </a:pPr>
            <a:r>
              <a:rPr sz="780" b="1">
                <a:solidFill>
                  <a:srgbClr val="496B3E"/>
                </a:solidFill>
                <a:latin typeface="Aptos Display"/>
                <a:ea typeface="Aptos Display"/>
                <a:cs typeface="Aptos Display"/>
              </a:rPr>
              <a:t>TRAINING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A34379-02CA-4442-9355-CF7C0985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5280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EEF4"/>
          </a:solidFill>
          <a:ln xmlns:a="http://schemas.openxmlformats.org/drawingml/2006/main" w="9525">
            <a:solidFill>
              <a:srgbClr val="1E587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803525-8565-4FE2-B3F5-000CE83F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19475"/>
            <a:ext cx="971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1E5877"/>
                </a:solidFill>
                <a:latin typeface="Aptos Display"/>
                <a:ea typeface="Aptos Display"/>
                <a:cs typeface="Aptos Display"/>
              </a:defRPr>
            </a:pPr>
            <a:r>
              <a:rPr sz="780" b="1">
                <a:solidFill>
                  <a:srgbClr val="1E5877"/>
                </a:solidFill>
                <a:latin typeface="Aptos Display"/>
                <a:ea typeface="Aptos Display"/>
                <a:cs typeface="Aptos Display"/>
              </a:rPr>
              <a:t>PRODUCTION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AEEA19-578B-457F-863B-CA392449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5280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0E3"/>
          </a:solidFill>
          <a:ln xmlns:a="http://schemas.openxmlformats.org/drawingml/2006/main" w="9525">
            <a:solidFill>
              <a:srgbClr val="496B3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74B99D-7890-4A25-9554-B79ED27E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19475"/>
            <a:ext cx="971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496B3E"/>
                </a:solidFill>
                <a:latin typeface="Aptos Display"/>
                <a:ea typeface="Aptos Display"/>
                <a:cs typeface="Aptos Display"/>
              </a:defRPr>
            </a:pPr>
            <a:r>
              <a:rPr sz="780" b="1">
                <a:solidFill>
                  <a:srgbClr val="496B3E"/>
                </a:solidFill>
                <a:latin typeface="Aptos Display"/>
                <a:ea typeface="Aptos Display"/>
                <a:cs typeface="Aptos Display"/>
              </a:rPr>
              <a:t>QUALITY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964AF4-8D16-4A52-AB44-7148279F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95550"/>
            <a:ext cx="1066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96B3E"/>
          </a:solidFill>
          <a:ln xmlns:a="http://schemas.openxmlformats.org/drawingml/2006/main" w="0">
            <a:solidFill>
              <a:srgbClr val="496B3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B57F63-36F7-497D-988C-AC4AF4C2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8130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496B3E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496B3E"/>
                </a:solidFill>
                <a:latin typeface="Aptos Display"/>
                <a:ea typeface="Aptos Display"/>
                <a:cs typeface="Aptos Display"/>
              </a:rPr>
              <a:t>capability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656C47-290B-4190-912B-EB9A2B63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95550"/>
            <a:ext cx="1638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5877"/>
          </a:solidFill>
          <a:ln xmlns:a="http://schemas.openxmlformats.org/drawingml/2006/main" w="0">
            <a:solidFill>
              <a:srgbClr val="1E587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636A179-03C8-4BA7-9A94-81659574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81300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E5877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E5877"/>
                </a:solidFill>
                <a:latin typeface="Aptos Display"/>
                <a:ea typeface="Aptos Display"/>
                <a:cs typeface="Aptos Display"/>
              </a:rPr>
              <a:t>product flow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6BBFA8-DF5A-4C00-B423-0832E9E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67150"/>
            <a:ext cx="2533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E5C1"/>
          </a:solidFill>
          <a:ln xmlns:a="http://schemas.openxmlformats.org/drawingml/2006/main" w="11430">
            <a:solidFill>
              <a:srgbClr val="D9B66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6D2640-469E-411B-A4A0-45548FF1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0050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704B16"/>
                </a:solidFill>
                <a:latin typeface="Aptos Display"/>
                <a:ea typeface="Aptos Display"/>
                <a:cs typeface="Aptos Display"/>
              </a:defRPr>
            </a:pPr>
            <a:r>
              <a:rPr sz="960" b="1">
                <a:solidFill>
                  <a:srgbClr val="704B16"/>
                </a:solidFill>
                <a:latin typeface="Aptos Display"/>
                <a:ea typeface="Aptos Display"/>
                <a:cs typeface="Aptos Display"/>
              </a:rPr>
              <a:t>COST-OF-PRODUCTION BRIDGE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001F73-9493-4572-B5B1-4DF74A75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1005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9625C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5C"/>
                </a:solidFill>
                <a:latin typeface="Aptos"/>
                <a:ea typeface="Aptos"/>
                <a:cs typeface="Aptos"/>
              </a:rPr>
              <a:t>artisan pay + material + overheads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4AE9A9-460B-4C87-981A-E28274F2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57650"/>
            <a:ext cx="17335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0782A"/>
          </a:solidFill>
          <a:ln xmlns:a="http://schemas.openxmlformats.org/drawingml/2006/main" w="0">
            <a:solidFill>
              <a:srgbClr val="B0782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AFF6D5-FAD1-4016-8663-C024F65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4340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704B16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704B16"/>
                </a:solidFill>
                <a:latin typeface="Aptos Display"/>
                <a:ea typeface="Aptos Display"/>
                <a:cs typeface="Aptos Display"/>
              </a:rPr>
              <a:t>invoice paid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0A0F87-AFE1-423D-96E1-915DB8E2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57650"/>
            <a:ext cx="12573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0782A"/>
          </a:solidFill>
          <a:ln xmlns:a="http://schemas.openxmlformats.org/drawingml/2006/main" w="0">
            <a:solidFill>
              <a:srgbClr val="B0782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DF3BD7-4265-4295-90DF-C2B249DC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434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704B16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704B16"/>
                </a:solidFill>
                <a:latin typeface="Aptos Display"/>
                <a:ea typeface="Aptos Display"/>
                <a:cs typeface="Aptos Display"/>
              </a:rPr>
              <a:t>fair wages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943FB38-D085-4FD5-96E7-4E0894FB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895350"/>
            <a:ext cx="2724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22018"/>
          </a:solidFill>
          <a:ln xmlns:a="http://schemas.openxmlformats.org/drawingml/2006/main" w="0">
            <a:solidFill>
              <a:srgbClr val="12201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C40C68-B2C8-400F-AB21-91805923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99060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2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CUSTOMERS &amp; MARKETS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E6EFD42-8507-4D6A-8486-2789D205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990600"/>
            <a:ext cx="16383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9C3340"/>
          </a:solidFill>
          <a:ln xmlns:a="http://schemas.openxmlformats.org/drawingml/2006/main" w="0">
            <a:solidFill>
              <a:srgbClr val="9C334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96F74AB-44FB-42D8-BD5A-4E1D2A5C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7429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9C3340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9C3340"/>
                </a:solidFill>
                <a:latin typeface="Aptos Display"/>
                <a:ea typeface="Aptos Display"/>
                <a:cs typeface="Aptos Display"/>
              </a:rPr>
              <a:t>demand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81DB144-036F-46AE-9C79-73F00868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1049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E1D8C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62CD184-9569-4BB3-A0D5-984EA722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4B16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704B16"/>
                </a:solidFill>
                <a:latin typeface="Aptos Display"/>
                <a:ea typeface="Aptos Display"/>
                <a:cs typeface="Aptos Display"/>
              </a:rPr>
              <a:t>VALUE CREATED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E115454-54AD-417A-BBCB-DBFDBE40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86400"/>
            <a:ext cx="1866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7F0E3"/>
          </a:solidFill>
          <a:ln xmlns:a="http://schemas.openxmlformats.org/drawingml/2006/main" w="11430">
            <a:solidFill>
              <a:srgbClr val="496B3E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2C03E06-E371-4CCA-9394-57043080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8640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B3E"/>
          </a:solidFill>
          <a:ln xmlns:a="http://schemas.openxmlformats.org/drawingml/2006/main" w="0">
            <a:solidFill>
              <a:srgbClr val="496B3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7C63679-F27C-42C0-A6CB-69E870D8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38800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0" b="1">
                <a:solidFill>
                  <a:srgbClr val="496B3E"/>
                </a:solidFill>
                <a:latin typeface="Aptos Display"/>
                <a:ea typeface="Aptos Display"/>
                <a:cs typeface="Aptos Display"/>
              </a:defRPr>
            </a:pPr>
            <a:r>
              <a:rPr sz="930" b="1">
                <a:solidFill>
                  <a:srgbClr val="496B3E"/>
                </a:solidFill>
                <a:latin typeface="Aptos Display"/>
                <a:ea typeface="Aptos Display"/>
                <a:cs typeface="Aptos Display"/>
              </a:rPr>
              <a:t>Livelihoods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D6B76B6-F2BE-48E1-B03B-0E8F925D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29300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59625C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59625C"/>
                </a:solidFill>
                <a:latin typeface="Aptos"/>
                <a:ea typeface="Aptos"/>
                <a:cs typeface="Aptos"/>
              </a:rPr>
              <a:t>Women earn sustainable incomes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7CF417C-400E-4885-BB9B-1C265E8C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86400"/>
            <a:ext cx="1866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6E5C1"/>
          </a:solidFill>
          <a:ln xmlns:a="http://schemas.openxmlformats.org/drawingml/2006/main" w="11430">
            <a:solidFill>
              <a:srgbClr val="B0782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308EEA4-F0EE-499E-891E-1CE0500B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8640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782A"/>
          </a:solidFill>
          <a:ln xmlns:a="http://schemas.openxmlformats.org/drawingml/2006/main" w="0">
            <a:solidFill>
              <a:srgbClr val="B0782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B06DD4C-0406-414F-B9CF-51A4856C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38800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0" b="1">
                <a:solidFill>
                  <a:srgbClr val="B0782A"/>
                </a:solidFill>
                <a:latin typeface="Aptos Display"/>
                <a:ea typeface="Aptos Display"/>
                <a:cs typeface="Aptos Display"/>
              </a:defRPr>
            </a:pPr>
            <a:r>
              <a:rPr sz="930" b="1">
                <a:solidFill>
                  <a:srgbClr val="B0782A"/>
                </a:solidFill>
                <a:latin typeface="Aptos Display"/>
                <a:ea typeface="Aptos Display"/>
                <a:cs typeface="Aptos Display"/>
              </a:rPr>
              <a:t>Craft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E79B87B-05E4-47E4-91AB-ECD3D4EB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829300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59625C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59625C"/>
                </a:solidFill>
                <a:latin typeface="Aptos"/>
                <a:ea typeface="Aptos"/>
                <a:cs typeface="Aptos"/>
              </a:rPr>
              <a:t>Traditional craft is preserved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72A5B99-8F33-4439-9957-3FEBB3FC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86400"/>
            <a:ext cx="1866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FEEF4"/>
          </a:solidFill>
          <a:ln xmlns:a="http://schemas.openxmlformats.org/drawingml/2006/main" w="11430">
            <a:solidFill>
              <a:srgbClr val="1E587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A59ED10-283C-49EE-84B2-3FEF7BAF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8640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877"/>
          </a:solidFill>
          <a:ln xmlns:a="http://schemas.openxmlformats.org/drawingml/2006/main" w="0">
            <a:solidFill>
              <a:srgbClr val="1E587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A61C2C5-CB35-4180-952B-56D256BA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38800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0" b="1">
                <a:solidFill>
                  <a:srgbClr val="1E5877"/>
                </a:solidFill>
                <a:latin typeface="Aptos Display"/>
                <a:ea typeface="Aptos Display"/>
                <a:cs typeface="Aptos Display"/>
              </a:defRPr>
            </a:pPr>
            <a:r>
              <a:rPr sz="930" b="1">
                <a:solidFill>
                  <a:srgbClr val="1E5877"/>
                </a:solidFill>
                <a:latin typeface="Aptos Display"/>
                <a:ea typeface="Aptos Display"/>
                <a:cs typeface="Aptos Display"/>
              </a:rPr>
              <a:t>Upcycling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86C6567-4BEB-4B4F-A4BB-5C450B09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829300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59625C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59625C"/>
                </a:solidFill>
                <a:latin typeface="Aptos"/>
                <a:ea typeface="Aptos"/>
                <a:cs typeface="Aptos"/>
              </a:rPr>
              <a:t>Waste materials are reused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D202BF5-33EB-476F-A2A6-24F28D38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86400"/>
            <a:ext cx="1866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1E4"/>
          </a:solidFill>
          <a:ln xmlns:a="http://schemas.openxmlformats.org/drawingml/2006/main" w="11430">
            <a:solidFill>
              <a:srgbClr val="9C334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0ACDC75-9A49-4936-AED1-D4236FFB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8640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340"/>
          </a:solidFill>
          <a:ln xmlns:a="http://schemas.openxmlformats.org/drawingml/2006/main" w="0">
            <a:solidFill>
              <a:srgbClr val="9C334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0D2F63A-4EBE-4334-A213-C3443F46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638800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0" b="1">
                <a:solidFill>
                  <a:srgbClr val="9C3340"/>
                </a:solidFill>
                <a:latin typeface="Aptos Display"/>
                <a:ea typeface="Aptos Display"/>
                <a:cs typeface="Aptos Display"/>
              </a:defRPr>
            </a:pPr>
            <a:r>
              <a:rPr sz="930" b="1">
                <a:solidFill>
                  <a:srgbClr val="9C3340"/>
                </a:solidFill>
                <a:latin typeface="Aptos Display"/>
                <a:ea typeface="Aptos Display"/>
                <a:cs typeface="Aptos Display"/>
              </a:rPr>
              <a:t>Enterprise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40B06AC-56E6-4A2D-BBDB-194C3488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829300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59625C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59625C"/>
                </a:solidFill>
                <a:latin typeface="Aptos"/>
                <a:ea typeface="Aptos"/>
                <a:cs typeface="Aptos"/>
              </a:rPr>
              <a:t>Profit funds growth and impact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52DE698-D65E-4C3B-B841-B877CE62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38900"/>
            <a:ext cx="1150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6C9"/>
          </a:solidFill>
          <a:ln xmlns:a="http://schemas.openxmlformats.org/drawingml/2006/main" w="0">
            <a:solidFill>
              <a:srgbClr val="DED6C9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20F6A39-BCD9-4B97-86F0-537E4999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72250"/>
            <a:ext cx="533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7B817C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7B817C"/>
                </a:solidFill>
                <a:latin typeface="Aptos"/>
                <a:ea typeface="Aptos"/>
                <a:cs typeface="Aptos"/>
              </a:rPr>
              <a:t>Fresh one-page composition from user-provided model; screenshot used only as benchmark.</a:t>
            </a:r>
          </a:p>
        </p:txBody>
      </p:sp>
    </p:spTree>
    <p:extLst>
      <p:ext uri="{BB962C8B-B14F-4D97-AF65-F5344CB8AC3E}">
        <p14:creationId xmlns:p14="http://schemas.microsoft.com/office/powerpoint/2010/main" val="1430170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2026-06-04T20:02:17.5740000Z</dcterms:created>
  <dcterms:modified xsi:type="dcterms:W3CDTF">2026-06-04T20:02:17.5740000Z</dcterms:modified>
</coreProperties>
</file>