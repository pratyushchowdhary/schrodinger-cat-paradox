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b49b3be7645ca" /><Relationship Type="http://schemas.openxmlformats.org/officeDocument/2006/relationships/extended-properties" Target="/docProps/app.xml" Id="Ra3c2fb65baca4c91" /><Relationship Type="http://schemas.openxmlformats.org/officeDocument/2006/relationships/officeDocument" Target="/ppt/presentation.xml" Id="Rc944a62e8a2c45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7753ac1b149ea"/>
  </p:sldMasterIdLst>
  <p:notesMasterIdLst>
    <p:notesMasterId xmlns:r="http://schemas.openxmlformats.org/officeDocument/2006/relationships" r:id="R205d9c550b7e42ff"/>
  </p:notesMasterIdLst>
  <p:sldIdLst>
    <p:sldId xmlns:r="http://schemas.openxmlformats.org/officeDocument/2006/relationships" id="256" r:id="Reb36ca3ac48f4757"/>
    <p:sldId xmlns:r="http://schemas.openxmlformats.org/officeDocument/2006/relationships" id="257" r:id="Rbf4725750b4c47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c6dcbbc964114" /><Relationship Type="http://schemas.openxmlformats.org/officeDocument/2006/relationships/slideMaster" Target="/ppt/slideMasters/slideMaster1.xml" Id="Rf577753ac1b149ea" /><Relationship Type="http://schemas.openxmlformats.org/officeDocument/2006/relationships/notesMaster" Target="/ppt/notesMasters/notesMaster1.xml" Id="R205d9c550b7e42ff" /><Relationship Type="http://schemas.openxmlformats.org/officeDocument/2006/relationships/presProps" Target="/ppt/presProps.xml" Id="R42f6d446faa44deb" /><Relationship Type="http://schemas.openxmlformats.org/officeDocument/2006/relationships/viewProps" Target="/ppt/viewProps.xml" Id="R99ee37e4316340fa" /><Relationship Type="http://schemas.openxmlformats.org/officeDocument/2006/relationships/tableStyles" Target="/ppt/tableStyles.xml" Id="R6f030bae12d4445e" /><Relationship Type="http://schemas.openxmlformats.org/officeDocument/2006/relationships/slide" Target="/ppt/slides/slide1.xml" Id="Reb36ca3ac48f4757" /><Relationship Type="http://schemas.openxmlformats.org/officeDocument/2006/relationships/slide" Target="/ppt/slides/slide2.xml" Id="Rbf4725750b4c47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d5d6f04d94d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b048f05614552" /><Relationship Type="http://schemas.openxmlformats.org/officeDocument/2006/relationships/notesMaster" Target="/ppt/notesMasters/notesMaster1.xml" Id="R6f710b0afc41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a40fef0484632" /><Relationship Type="http://schemas.openxmlformats.org/officeDocument/2006/relationships/notesMaster" Target="/ppt/notesMasters/notesMaster1.xml" Id="Rcc06eed6f06c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e26d50fcf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4cc1a2b0e47d8" /><Relationship Type="http://schemas.openxmlformats.org/officeDocument/2006/relationships/slideLayout" Target="/ppt/slideLayouts/slideLayout1.xml" Id="Rb61db1e7b2e048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db1e7b2e048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7bf77be04133" /><Relationship Type="http://schemas.openxmlformats.org/officeDocument/2006/relationships/notesSlide" Target="/ppt/notesSlides/notesSlide1.xml" Id="R982817b9037e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ccc9c4584bd3" /><Relationship Type="http://schemas.openxmlformats.org/officeDocument/2006/relationships/notesSlide" Target="/ppt/notesSlides/notesSlide2.xml" Id="R56277998b28b46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ACC78-FD7A-4FE3-AF3D-2F62426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sp>
        <p:nvSpPr>
          <p:cNvPr id="2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FD7A78DD-E9C3-4951-B830-CC37A45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1DD"/>
          </a:solidFill>
          <a:ln xmlns:a="http://schemas.openxmlformats.org/drawingml/2006/main" w="9525">
            <a:solidFill>
              <a:srgbClr val="E0C58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3A468-8F26-4565-9F63-B912D483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rPr>
              <a:t>The Foundation enables participation; SFPL creates market demand.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8705-E658-437C-A3B9-D942F9A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A two-entity structure separates inclusion work from the commercial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5A11D-B8C3-4103-B5E9-30F01B5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2C4B5-370E-4CA3-9D73-4B78B2BB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96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65F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C665F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7CC86-9CA2-4EDA-95AE-15F0F92F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76650" cy="400050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9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5CB4B-CB16-40E6-9A07-3A7C8EB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5704A"/>
          </a:solidFill>
          <a:ln xmlns:a="http://schemas.openxmlformats.org/drawingml/2006/main" w="0">
            <a:solidFill>
              <a:srgbClr val="557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76BDA-D071-4F46-A0FD-DE344FF6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SIROHI FOUNDATION (NPO)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B47C3-0A0C-472F-B303-F6A115D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3219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Inclusion &amp; Capability Building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ACFAC-A1BC-4170-85CA-2FC81723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B8C9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3E911-EE1B-4EFC-BC35-F66134D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3676650" cy="400050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A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065EF-F47D-4BD4-94B1-AE82014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33A45"/>
          </a:solidFill>
          <a:ln xmlns:a="http://schemas.openxmlformats.org/drawingml/2006/main" w="0">
            <a:solidFill>
              <a:srgbClr val="A33A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D0846-F1B4-4452-8640-DB6D93B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SIROHI FURNITURE PVT. LTD.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45D2-6D34-4EFB-9E9A-A6A0F602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9775"/>
            <a:ext cx="3219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Commercial Arm, For-Profit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0777D-8C8A-424A-A941-94521212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9525">
            <a:solidFill>
              <a:srgbClr val="D9A7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F2758-9831-4B07-8DB4-F914EAC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WHAT THE FOUNDATION OWNS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04748-0F25-4C6A-80BD-C1EBEEAD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9525">
            <a:solidFill>
              <a:srgbClr val="557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32BFF-46E0-4097-BE31-A95F12C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Identify and mobilise women artisans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05568-14A9-45CA-9FFC-A05597E5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9525">
            <a:solidFill>
              <a:srgbClr val="557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B39C6-D7D7-439C-A0E0-D85EA6CB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Provide craft, design, technical and quality training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09177-B557-457F-944B-D9471E3D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9525">
            <a:solidFill>
              <a:srgbClr val="557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9C371-5140-4F68-822D-F657F7B8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Ensure fair working conditions and safeguarding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82DE2-1163-436A-A10F-D9F6CB57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9525">
            <a:solidFill>
              <a:srgbClr val="557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C53D7-C44F-4C96-A4CC-CA57EF75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Monitor social impact and community empowerment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E881A-FE03-4E32-95EC-A4A9E93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1430">
            <a:solidFill>
              <a:srgbClr val="B8C9A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25F02-9029-4541-AAEF-916A1B82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C42A2-3C35-4089-BAC2-BDF13464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14925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Empowered, skilled and employed women artisans.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50CCE-ED44-41A6-8D99-4B0F2A7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rPr>
              <a:t>WHAT SFPL OWNS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4ACBE-49FC-488A-AD5D-878403D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45"/>
          </a:solidFill>
          <a:ln xmlns:a="http://schemas.openxmlformats.org/drawingml/2006/main" w="9525">
            <a:solidFill>
              <a:srgbClr val="A33A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0FA683-9627-451C-9925-1CC899D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Design, product development and innovation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5182C-E1DE-4681-9334-D5264934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45"/>
          </a:solidFill>
          <a:ln xmlns:a="http://schemas.openxmlformats.org/drawingml/2006/main" w="9525">
            <a:solidFill>
              <a:srgbClr val="A33A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B458D-92A4-497A-9574-9520178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Branding, packaging and premium positioning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80732-B526-45AB-B930-65158A6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00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45"/>
          </a:solidFill>
          <a:ln xmlns:a="http://schemas.openxmlformats.org/drawingml/2006/main" w="9525">
            <a:solidFill>
              <a:srgbClr val="A33A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C6898-DFD7-42A3-A2F1-8F06D0AD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D2C, B2B, gifting, exports and partnerships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682503-B4E2-4F0B-A738-89C1DAB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45"/>
          </a:solidFill>
          <a:ln xmlns:a="http://schemas.openxmlformats.org/drawingml/2006/main" w="9525">
            <a:solidFill>
              <a:srgbClr val="A33A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45421-B9C2-4AB3-A677-694C476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Customer experience and repeat engagement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C5A904-D62D-493B-A5D7-E908A1DF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11430">
            <a:solidFill>
              <a:srgbClr val="D9A7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823113-9B77-4CD4-8948-3B07F2E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A5D64-F475-4D33-AB3B-04C0EC9A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14925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Market demand, revenue and scalable business operations.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41A918-3A0B-4000-871E-0FCB2E1A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533650" cy="26860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58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F5332A-F298-4F03-9187-D55298FD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THE BRIDGE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88AA4-F57A-491D-BEE0-28BC7E9F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3AA"/>
          </a:solidFill>
          <a:ln xmlns:a="http://schemas.openxmlformats.org/drawingml/2006/main" w="0">
            <a:solidFill>
              <a:srgbClr val="E5D3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0C1984-90DD-4CE9-A6C6-6EDE89E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B8CD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745E98-8127-4C9C-9AC0-35C09C6A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194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Finished goods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B50D7C-956F-4B2B-8410-B3058B9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7662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Artisans produce handmade products using trained skills.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CCB5E-FE8C-4DA7-9BA6-B11DA83A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11430">
            <a:solidFill>
              <a:srgbClr val="E0C58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037452-0AC8-44AF-8994-2EEAC325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529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Cost invoice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D3202-3CF2-4073-A90B-975F825E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100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Foundation invoices SFPL for artisan payments, materials and overheads.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D0E7D2-BEE3-4FDB-96C0-9E42859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B8C121-2774-4A4D-87C7-A30AD04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00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products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5B92CF-4181-4BAA-B5BB-D03B08C7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7185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FE5035-3701-472B-BED9-3D03895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00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to SFPL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7F3085-938B-4FC4-B6D2-FD90A06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8032"/>
          </a:solidFill>
          <a:ln xmlns:a="http://schemas.openxmlformats.org/drawingml/2006/main" w="0">
            <a:solidFill>
              <a:srgbClr val="B0803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A522EB-22E8-43FC-80E8-1A671B58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rPr>
              <a:t>invoice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36849C-23C7-47A0-8E31-93CFB10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05500"/>
            <a:ext cx="6781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31B"/>
          </a:solidFill>
          <a:ln xmlns:a="http://schemas.openxmlformats.org/drawingml/2006/main" w="0">
            <a:solidFill>
              <a:srgbClr val="13231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A4CDCC-E8AC-4FDC-9CF6-33B640D8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91225"/>
            <a:ext cx="632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Foundation builds access and capability. SFPL builds demand and sustainability.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81D275-288A-4478-80EC-85561E51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5"/>
          </a:solidFill>
          <a:ln xmlns:a="http://schemas.openxmlformats.org/drawingml/2006/main" w="0">
            <a:solidFill>
              <a:srgbClr val="E2DE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8DB4D4-1982-4157-BB7C-2D19D41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A817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17B"/>
                </a:solidFill>
                <a:latin typeface="Aptos"/>
                <a:ea typeface="Aptos"/>
                <a:cs typeface="Aptos"/>
              </a:rPr>
              <a:t>Source: user-provided Sirohi Hybrid Business Model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C6B809-D815-4951-8037-C149B647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A817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7A817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7118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2E5F8-DC29-4E9D-8C02-0304E45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2BCF523-8BA1-4F46-996F-5713CA7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1DD"/>
          </a:solidFill>
          <a:ln xmlns:a="http://schemas.openxmlformats.org/drawingml/2006/main" w="9525">
            <a:solidFill>
              <a:srgbClr val="E0C58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F479-931A-4033-9AD9-EBEF399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rPr>
              <a:t>Products move outward; money returns to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25AB5-3D53-4F7D-BFD1-5C3D6F6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The model works when the commercial arm keeps demand growing and the Foundation keeps participation fair.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DB076-6ED9-4E4B-BA67-CD49622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9A0E5-E755-4AC6-96B6-035623C7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96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65F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C665F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3FD1B-5F51-4CF7-9CF6-B9F77C0A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B8CDDA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PRODUCT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7309-51A6-404F-9DD7-36A2EBF2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828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3335">
            <a:solidFill>
              <a:srgbClr val="B8C9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B0ECC-21AC-40EE-9FA3-F4B2B75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Women artisans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C3292-45AE-4300-A8FE-9460BE2F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Make handmade products using trained skills.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7D709-54F6-4E05-A804-60D84C42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1828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3335">
            <a:solidFill>
              <a:srgbClr val="B8C9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C5492-EE5C-4979-BF11-702502C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70690-6EF6-4BCE-8440-F7829408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Procures finished goods and checks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D6CA5-CDD8-4C17-997F-721F4A8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1828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13335">
            <a:solidFill>
              <a:srgbClr val="D9A7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8D8A5-7C0C-423C-9D1E-01DF324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A2530"/>
                </a:solidFill>
                <a:latin typeface="Aptos Display"/>
                <a:ea typeface="Aptos Display"/>
                <a:cs typeface="Aptos Display"/>
              </a:rPr>
              <a:t>SFPL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0DB60-22C4-4340-AEEA-FAE95AF5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Receives goods and manages commercial execution.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A7134-17E5-4EAD-820F-DF536311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1828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C9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84B5D-DE4F-45F7-BD5D-232CFC4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2AD4D-C887-45F7-9B26-4A98B82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Buy through D2C, B2B, retail, gifting and exports.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3A5F8-D98B-4C79-8BBE-B33EBD4D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05075"/>
            <a:ext cx="819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1522C-023D-45A3-A64A-8974D84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products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41064-BFD2-4D19-8384-DA002BEA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05075"/>
            <a:ext cx="819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CDF95-700A-40C4-9FFD-119B275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146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E4EA-0FA0-4DC1-BE29-CB3DA23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819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4A856-FB34-419D-BCC3-EEF5886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sales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8C2D7-A45D-4F65-AD1C-54D3F4B9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1DD"/>
          </a:solidFill>
          <a:ln xmlns:a="http://schemas.openxmlformats.org/drawingml/2006/main" w="9525">
            <a:solidFill>
              <a:srgbClr val="E0C58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MONEY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829D6-EEB3-4ED3-AB3F-9FA5FFB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38600"/>
            <a:ext cx="1828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11430">
            <a:solidFill>
              <a:srgbClr val="E0C5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63CB8-73B2-494E-9383-EF73537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Customers pay SFPL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92342-7DAB-493E-A62A-38789D4A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10075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Sales revenue is earned by the commercial arm.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B9B79-7FBA-4FBD-B3A9-B5F7CECF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1828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11430">
            <a:solidFill>
              <a:srgbClr val="E0C58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320AA-ECC4-4626-A3E8-AE2C17B2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SFPL pays Foundation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48B77-0230-401E-91AF-7ACBBD81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0075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Payment is made against cost of production invoice.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E60FE-24B4-4CBC-BE69-30AB077B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1828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1430">
            <a:solidFill>
              <a:srgbClr val="B8C9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F64AB-0ED5-4946-9F28-DC92E71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Foundation pays artisans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574E25-89E6-49EC-8184-D5C5943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Fair wages are paid for the products.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4C082-91FA-4A98-9721-8524271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828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1430">
            <a:solidFill>
              <a:srgbClr val="B8C9A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1D39B-283E-4707-8A55-40AC2B6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31482F"/>
                </a:solidFill>
                <a:latin typeface="Aptos Display"/>
                <a:ea typeface="Aptos Display"/>
                <a:cs typeface="Aptos Display"/>
              </a:rPr>
              <a:t>Income reaches women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CCBE3E-7751-4477-9DEB-45C01D35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Livelihoods are linked to real market demand.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7B27F-E945-43AB-989D-9C066E7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8191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8032"/>
          </a:solidFill>
          <a:ln xmlns:a="http://schemas.openxmlformats.org/drawingml/2006/main" w="0">
            <a:solidFill>
              <a:srgbClr val="B080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32992C-D31B-47C3-97B4-5B87E70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rPr>
              <a:t>revenue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9EBB32-9752-4A4E-B7C6-250C0EB7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8191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8032"/>
          </a:solidFill>
          <a:ln xmlns:a="http://schemas.openxmlformats.org/drawingml/2006/main" w="0">
            <a:solidFill>
              <a:srgbClr val="B080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65EA95-188C-46A1-98EC-B1A1768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52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rPr>
              <a:t>invoice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5AD78B-988D-4D7A-B3DA-7FE1C78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8191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0">
            <a:solidFill>
              <a:srgbClr val="5570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60C398-7F16-4863-9EDE-14D5788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rPr>
              <a:t>fair wages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A47DE6-C104-414E-A630-2DD7272E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3DE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F88E0D-D670-4324-BE66-6C6E3DE7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7B551A"/>
                </a:solidFill>
                <a:latin typeface="Aptos Display"/>
                <a:ea typeface="Aptos Display"/>
                <a:cs typeface="Aptos Display"/>
              </a:rPr>
              <a:t>VALUE CREATED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F5F715-D7B6-47A0-B540-308A361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1453B2-1DF0-42F2-BD52-77D5ACF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0">
            <a:solidFill>
              <a:srgbClr val="5570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7CFFB9-A3C9-46A1-B439-FFED2E5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53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rPr>
              <a:t>Income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1F7B8C-C1CF-443D-A09F-80B2FBA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816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Women earn sustainable livelihoods.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05060C-A8A4-4AC7-BFBF-01A43C4E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CF2D2-D059-4F48-A278-EEBFB94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032"/>
          </a:solidFill>
          <a:ln xmlns:a="http://schemas.openxmlformats.org/drawingml/2006/main" w="0">
            <a:solidFill>
              <a:srgbClr val="B0803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A1501F-103F-4AF4-A476-63B1F89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B08032"/>
                </a:solidFill>
                <a:latin typeface="Aptos Display"/>
                <a:ea typeface="Aptos Display"/>
                <a:cs typeface="Aptos Display"/>
              </a:rPr>
              <a:t>Craft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DCEC09-27BE-4A0E-B56D-91A93995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816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Traditional skills are preserved.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619BFB-DE40-440D-994E-6792122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1020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DF4CED-08FB-452F-B923-BAD314E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10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8"/>
          </a:solidFill>
          <a:ln xmlns:a="http://schemas.openxmlformats.org/drawingml/2006/main" w="0">
            <a:solidFill>
              <a:srgbClr val="1F4F7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D7F43C-3EFC-46AD-B273-63C5C80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53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1F4F78"/>
                </a:solidFill>
                <a:latin typeface="Aptos Display"/>
                <a:ea typeface="Aptos Display"/>
                <a:cs typeface="Aptos Display"/>
              </a:rPr>
              <a:t>Materials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6E29BE-1FD6-4D80-8E0D-94766248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816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Waste is upcycled responsibly.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386E30-A6CB-4B95-BAB2-1D0B0AE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1020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A3C4ED-FF8D-42D6-AF83-56C7116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10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45"/>
          </a:solidFill>
          <a:ln xmlns:a="http://schemas.openxmlformats.org/drawingml/2006/main" w="0">
            <a:solidFill>
              <a:srgbClr val="A33A4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6746B1-A71E-4914-9BF7-0ADF6657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53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A33A45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A33A45"/>
                </a:solidFill>
                <a:latin typeface="Aptos Display"/>
                <a:ea typeface="Aptos Display"/>
                <a:cs typeface="Aptos Display"/>
              </a:rPr>
              <a:t>Customers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32076B-AB03-48DC-86D2-EC861AE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7816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Premium handmade products delight buyers.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F0DF33-0162-4A1A-9371-0BBD926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1020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365277-5335-46E4-BF6A-63A82226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10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A"/>
          </a:solidFill>
          <a:ln xmlns:a="http://schemas.openxmlformats.org/drawingml/2006/main" w="0">
            <a:solidFill>
              <a:srgbClr val="55704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DB2565-8951-443C-8502-B4338FA4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53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55704A"/>
                </a:solidFill>
                <a:latin typeface="Aptos Display"/>
                <a:ea typeface="Aptos Display"/>
                <a:cs typeface="Aptos Display"/>
              </a:rPr>
              <a:t>Scale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8A4CC7-10AD-4BDD-9CD5-9040EF03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816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C665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C665F"/>
                </a:solidFill>
                <a:latin typeface="Aptos"/>
                <a:ea typeface="Aptos"/>
                <a:cs typeface="Aptos"/>
              </a:rPr>
              <a:t>Impact grows through a sustainable enterprise.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B6F9D1-21A2-4D82-A933-820205A6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48400"/>
            <a:ext cx="762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3231B"/>
                </a:solidFill>
                <a:latin typeface="Aptos Display"/>
                <a:ea typeface="Aptos Display"/>
                <a:cs typeface="Aptos Display"/>
              </a:rPr>
              <a:t>The Foundation enables participation. The For-Profit creates market demand.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86811A-A913-4AA8-A6B6-A9DC0EFA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5"/>
          </a:solidFill>
          <a:ln xmlns:a="http://schemas.openxmlformats.org/drawingml/2006/main" w="0">
            <a:solidFill>
              <a:srgbClr val="E2DE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F6DDBC-62D4-4136-AE6A-78C4EF88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A817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17B"/>
                </a:solidFill>
                <a:latin typeface="Aptos"/>
                <a:ea typeface="Aptos"/>
                <a:cs typeface="Aptos"/>
              </a:rPr>
              <a:t>Source: user-provided Sirohi Hybrid Business Model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E8051A-3B36-42D1-9DF2-9FA9CEC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A817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7A817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5467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2026-06-04T19:54:14.8970000Z</dcterms:created>
  <dcterms:modified xsi:type="dcterms:W3CDTF">2026-06-04T19:54:14.8970000Z</dcterms:modified>
</coreProperties>
</file>