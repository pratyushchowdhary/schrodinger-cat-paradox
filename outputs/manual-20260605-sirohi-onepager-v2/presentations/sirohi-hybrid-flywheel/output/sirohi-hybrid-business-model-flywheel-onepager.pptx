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3569a3fb644482" /><Relationship Type="http://schemas.openxmlformats.org/officeDocument/2006/relationships/extended-properties" Target="/docProps/app.xml" Id="R45a8f2e88a85453e" /><Relationship Type="http://schemas.openxmlformats.org/officeDocument/2006/relationships/officeDocument" Target="/ppt/presentation.xml" Id="R44190811c78744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0073cbf3394340"/>
  </p:sldMasterIdLst>
  <p:notesMasterIdLst>
    <p:notesMasterId xmlns:r="http://schemas.openxmlformats.org/officeDocument/2006/relationships" r:id="R380550b6b5c14223"/>
  </p:notesMasterIdLst>
  <p:sldIdLst>
    <p:sldId xmlns:r="http://schemas.openxmlformats.org/officeDocument/2006/relationships" id="256" r:id="R2ef1b39b7b8042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127835b8544c74" /><Relationship Type="http://schemas.openxmlformats.org/officeDocument/2006/relationships/slideMaster" Target="/ppt/slideMasters/slideMaster1.xml" Id="R1f0073cbf3394340" /><Relationship Type="http://schemas.openxmlformats.org/officeDocument/2006/relationships/notesMaster" Target="/ppt/notesMasters/notesMaster1.xml" Id="R380550b6b5c14223" /><Relationship Type="http://schemas.openxmlformats.org/officeDocument/2006/relationships/presProps" Target="/ppt/presProps.xml" Id="R79f9e9ac3a4d4773" /><Relationship Type="http://schemas.openxmlformats.org/officeDocument/2006/relationships/viewProps" Target="/ppt/viewProps.xml" Id="R636b3a781cdf4225" /><Relationship Type="http://schemas.openxmlformats.org/officeDocument/2006/relationships/tableStyles" Target="/ppt/tableStyles.xml" Id="Ra4f0344c71f84731" /><Relationship Type="http://schemas.openxmlformats.org/officeDocument/2006/relationships/slide" Target="/ppt/slides/slide1.xml" Id="R2ef1b39b7b8042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fff3cf155949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756fdebc914659" /><Relationship Type="http://schemas.openxmlformats.org/officeDocument/2006/relationships/notesMaster" Target="/ppt/notesMasters/notesMaster1.xml" Id="R79c1a639d70148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696381e9247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e46bc526ce464b" /><Relationship Type="http://schemas.openxmlformats.org/officeDocument/2006/relationships/slideLayout" Target="/ppt/slideLayouts/slideLayout1.xml" Id="R2dd91e99941642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d91e99941642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94f948c594f0e" /><Relationship Type="http://schemas.openxmlformats.org/officeDocument/2006/relationships/notesSlide" Target="/ppt/notesSlides/notesSlide1.xml" Id="R7f86504615e24b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4F70FF-E3B7-4225-80DD-C1DE8F28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ED5D7-FC50-4CE8-9138-3C289122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BE"/>
          </a:solidFill>
          <a:ln xmlns:a="http://schemas.openxmlformats.org/drawingml/2006/main" w="9525">
            <a:solidFill>
              <a:srgbClr val="DAB56F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AD7629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AD7629"/>
                </a:solidFill>
                <a:latin typeface="Aptos Display"/>
                <a:ea typeface="Aptos Display"/>
                <a:cs typeface="Aptos Display"/>
              </a:rPr>
              <a:t>SIROHI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35C74-007F-4579-80F5-0F84FD8C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D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D17"/>
                </a:solidFill>
                <a:latin typeface="Aptos Display"/>
                <a:ea typeface="Aptos Display"/>
                <a:cs typeface="Aptos Display"/>
              </a:rPr>
              <a:t>Hybrid model as a livelihood flywheel.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534C5-C88F-4FDF-9AF8-701E2EFC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2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25D"/>
                </a:solidFill>
                <a:latin typeface="Aptos"/>
                <a:ea typeface="Aptos"/>
                <a:cs typeface="Aptos"/>
              </a:rPr>
              <a:t>The Foundation opens participation. SFPL creates demand. Money returns to women artisans.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38B28-0876-499F-ADB3-A58A609C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11D1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D17"/>
                </a:solidFill>
                <a:latin typeface="Aptos Display"/>
                <a:ea typeface="Aptos Display"/>
                <a:cs typeface="Aptos Display"/>
              </a:rPr>
              <a:t>SIROHI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27047-BCF2-4EE2-A4BE-838E609F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858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A625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5A625D"/>
                </a:solidFill>
                <a:latin typeface="Aptos Display"/>
                <a:ea typeface="Aptos Display"/>
                <a:cs typeface="Aptos Display"/>
              </a:rPr>
              <a:t>MADE BY WOMEN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3087E-17F3-4DE4-BC2F-AD275540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103251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8CE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53348-4BBA-4375-A3C0-2FBE713F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38350"/>
            <a:ext cx="2038350" cy="28575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4B6F43"/>
          </a:solidFill>
          <a:ln xmlns:a="http://schemas.openxmlformats.org/drawingml/2006/main" w="0">
            <a:solidFill>
              <a:srgbClr val="4B6F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481E3-A956-4848-9CBA-284B80B0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334C3-3ABA-4A26-87FD-9648F9C2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NPO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Capability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3D0F8-14AE-40FD-93E3-BA83C3DE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0">
                <a:solidFill>
                  <a:srgbClr val="F4F8F1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F4F8F1"/>
                </a:solidFill>
                <a:latin typeface="Aptos"/>
                <a:ea typeface="Aptos"/>
                <a:cs typeface="Aptos"/>
              </a:rPr>
              <a:t>Mobilise</a:t>
            </a:r>
          </a:p>
          <a:p xmlns:a="http://schemas.openxmlformats.org/drawingml/2006/main">
            <a:pPr algn="ctr">
              <a:defRPr sz="990" b="0">
                <a:solidFill>
                  <a:srgbClr val="F4F8F1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F4F8F1"/>
                </a:solidFill>
                <a:latin typeface="Aptos"/>
                <a:ea typeface="Aptos"/>
                <a:cs typeface="Aptos"/>
              </a:rPr>
              <a:t>Train</a:t>
            </a:r>
          </a:p>
          <a:p xmlns:a="http://schemas.openxmlformats.org/drawingml/2006/main">
            <a:pPr algn="ctr">
              <a:defRPr sz="990" b="0">
                <a:solidFill>
                  <a:srgbClr val="F4F8F1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F4F8F1"/>
                </a:solidFill>
                <a:latin typeface="Aptos"/>
                <a:ea typeface="Aptos"/>
                <a:cs typeface="Aptos"/>
              </a:rPr>
              <a:t>Safeguard</a:t>
            </a:r>
          </a:p>
          <a:p xmlns:a="http://schemas.openxmlformats.org/drawingml/2006/main">
            <a:pPr algn="ctr">
              <a:defRPr sz="990" b="0">
                <a:solidFill>
                  <a:srgbClr val="F4F8F1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F4F8F1"/>
                </a:solidFill>
                <a:latin typeface="Aptos"/>
                <a:ea typeface="Aptos"/>
                <a:cs typeface="Aptos"/>
              </a:rPr>
              <a:t>Procure + quality-check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6947F-8964-44D4-B7BC-6EC6154A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38350"/>
            <a:ext cx="2038350" cy="28575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A53A44"/>
          </a:solidFill>
          <a:ln xmlns:a="http://schemas.openxmlformats.org/drawingml/2006/main" w="0">
            <a:solidFill>
              <a:srgbClr val="A53A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45E72-763E-4825-AAAE-5546679E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24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SFPL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26BEF-E867-459B-BBBF-F51D1028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For-profit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Demand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AEF26-664B-4557-839B-0252034A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150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0">
                <a:solidFill>
                  <a:srgbClr val="FFF1F2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FFF1F2"/>
                </a:solidFill>
                <a:latin typeface="Aptos"/>
                <a:ea typeface="Aptos"/>
                <a:cs typeface="Aptos"/>
              </a:rPr>
              <a:t>Design</a:t>
            </a:r>
          </a:p>
          <a:p xmlns:a="http://schemas.openxmlformats.org/drawingml/2006/main">
            <a:pPr algn="ctr">
              <a:defRPr sz="990" b="0">
                <a:solidFill>
                  <a:srgbClr val="FFF1F2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FFF1F2"/>
                </a:solidFill>
                <a:latin typeface="Aptos"/>
                <a:ea typeface="Aptos"/>
                <a:cs typeface="Aptos"/>
              </a:rPr>
              <a:t>Brand</a:t>
            </a:r>
          </a:p>
          <a:p xmlns:a="http://schemas.openxmlformats.org/drawingml/2006/main">
            <a:pPr algn="ctr">
              <a:defRPr sz="990" b="0">
                <a:solidFill>
                  <a:srgbClr val="FFF1F2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FFF1F2"/>
                </a:solidFill>
                <a:latin typeface="Aptos"/>
                <a:ea typeface="Aptos"/>
                <a:cs typeface="Aptos"/>
              </a:rPr>
              <a:t>Sell</a:t>
            </a:r>
          </a:p>
          <a:p xmlns:a="http://schemas.openxmlformats.org/drawingml/2006/main">
            <a:pPr algn="ctr">
              <a:defRPr sz="990" b="0">
                <a:solidFill>
                  <a:srgbClr val="FFF1F2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FFF1F2"/>
                </a:solidFill>
                <a:latin typeface="Aptos"/>
                <a:ea typeface="Aptos"/>
                <a:cs typeface="Aptos"/>
              </a:rPr>
              <a:t>Serve customers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00C5E-19F6-4FB4-9133-FFDF5682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90750"/>
            <a:ext cx="40386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D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4AC35-4E40-4C6A-9038-6E28035D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26670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DB"/>
          </a:solidFill>
          <a:ln xmlns:a="http://schemas.openxmlformats.org/drawingml/2006/main" w="22860">
            <a:solidFill>
              <a:srgbClr val="4B6F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C5543-BA2D-4665-9DF4-52DF81C6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718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B6F4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4B6F43"/>
                </a:solidFill>
                <a:latin typeface="Aptos Display"/>
                <a:ea typeface="Aptos Display"/>
                <a:cs typeface="Aptos Display"/>
              </a:rPr>
              <a:t>WOMEN ARTISANS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04282-904E-4AAD-81E0-E340E438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5A625D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5A625D"/>
                </a:solidFill>
                <a:latin typeface="Aptos"/>
                <a:ea typeface="Aptos"/>
                <a:cs typeface="Aptos"/>
              </a:rPr>
              <a:t>skilled | employed | paid fairly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C6017-46C7-4FD8-915F-BD7189FD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76550"/>
            <a:ext cx="1504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6F43"/>
          </a:solidFill>
          <a:ln xmlns:a="http://schemas.openxmlformats.org/drawingml/2006/main" w="0">
            <a:solidFill>
              <a:srgbClr val="4B6F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4BE04-D1FD-491B-BC81-302151A6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623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6F4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4B6F43"/>
                </a:solidFill>
                <a:latin typeface="Aptos Display"/>
                <a:ea typeface="Aptos Display"/>
                <a:cs typeface="Aptos Display"/>
              </a:rPr>
              <a:t>capability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BF3BE-010A-41C8-BF60-BA0DEF61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1581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A7A"/>
          </a:solidFill>
          <a:ln xmlns:a="http://schemas.openxmlformats.org/drawingml/2006/main" w="0">
            <a:solidFill>
              <a:srgbClr val="1F5A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CA6A7-5FDB-46F1-9E5C-ED35AB58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623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5A7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F5A7A"/>
                </a:solidFill>
                <a:latin typeface="Aptos Display"/>
                <a:ea typeface="Aptos Display"/>
                <a:cs typeface="Aptos Display"/>
              </a:rPr>
              <a:t>products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DB9F9-04EA-422F-A0A8-85C7D14A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05300"/>
            <a:ext cx="15811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AD7629"/>
          </a:solidFill>
          <a:ln xmlns:a="http://schemas.openxmlformats.org/drawingml/2006/main" w="0">
            <a:solidFill>
              <a:srgbClr val="AD762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370B75-77E9-459D-9317-A7D6C0E7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01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D7629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D7629"/>
                </a:solidFill>
                <a:latin typeface="Aptos Display"/>
                <a:ea typeface="Aptos Display"/>
                <a:cs typeface="Aptos Display"/>
              </a:rPr>
              <a:t>revenue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9D4C7C-D3CB-4405-8F3A-203998E2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05300"/>
            <a:ext cx="1047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AD7629"/>
          </a:solidFill>
          <a:ln xmlns:a="http://schemas.openxmlformats.org/drawingml/2006/main" w="0">
            <a:solidFill>
              <a:srgbClr val="AD762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FA9789-993C-43DA-B0E8-0D6E551D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10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D7629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D7629"/>
                </a:solidFill>
                <a:latin typeface="Aptos Display"/>
                <a:ea typeface="Aptos Display"/>
                <a:cs typeface="Aptos Display"/>
              </a:rPr>
              <a:t>fair wages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4E9236-5DC3-4B27-8B1A-C0B51E89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5290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E4BE"/>
          </a:solidFill>
          <a:ln xmlns:a="http://schemas.openxmlformats.org/drawingml/2006/main" w="11430">
            <a:solidFill>
              <a:srgbClr val="DAB5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1572F-E6C2-48E1-A3AB-6AF5B5D9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767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AD7629"/>
                </a:solidFill>
                <a:latin typeface="Aptos Display"/>
                <a:ea typeface="Aptos Display"/>
                <a:cs typeface="Aptos Display"/>
              </a:defRPr>
            </a:pPr>
            <a:r>
              <a:rPr sz="915" b="1">
                <a:solidFill>
                  <a:srgbClr val="AD7629"/>
                </a:solidFill>
                <a:latin typeface="Aptos Display"/>
                <a:ea typeface="Aptos Display"/>
                <a:cs typeface="Aptos Display"/>
              </a:rPr>
              <a:t>COST-OF-PRODUCTION INVOICE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FE19B6-1037-4466-B819-74032682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577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5A625D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A625D"/>
                </a:solidFill>
                <a:latin typeface="Aptos"/>
                <a:ea typeface="Aptos"/>
                <a:cs typeface="Aptos"/>
              </a:rPr>
              <a:t>artisan pay + materials + overheads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469FDC-F37D-40B5-8810-04A447ED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71650"/>
            <a:ext cx="2438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1D17"/>
          </a:solidFill>
          <a:ln xmlns:a="http://schemas.openxmlformats.org/drawingml/2006/main" w="0">
            <a:solidFill>
              <a:srgbClr val="111D1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E7BF83-502B-4BCB-BE0A-61F6DBBA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1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CUSTOMERS / MARKETS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32F03B-5CF1-496E-BD3E-2F9421F7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165735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A53A44"/>
          </a:solidFill>
          <a:ln xmlns:a="http://schemas.openxmlformats.org/drawingml/2006/main" w="0">
            <a:solidFill>
              <a:srgbClr val="A53A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26C1AF-1478-4602-951D-A65F4154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19250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A53A44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A53A44"/>
                </a:solidFill>
                <a:latin typeface="Aptos Display"/>
                <a:ea typeface="Aptos Display"/>
                <a:cs typeface="Aptos Display"/>
              </a:rPr>
              <a:t>sales demand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261F8F-CBCB-4EA6-9F06-FAD20CA9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ADB"/>
          </a:solidFill>
          <a:ln xmlns:a="http://schemas.openxmlformats.org/drawingml/2006/main" w="9525">
            <a:solidFill>
              <a:srgbClr val="4B6F4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ACBF4B-7838-4BBD-8AC4-E19F655F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98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B6F43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4B6F43"/>
                </a:solidFill>
                <a:latin typeface="Aptos Display"/>
                <a:ea typeface="Aptos Display"/>
                <a:cs typeface="Aptos Display"/>
              </a:rPr>
              <a:t>training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F9C280-FDEB-4C2A-AD78-18B14339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9525">
            <a:solidFill>
              <a:srgbClr val="1F5A7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010A36-0F8E-440D-8AF6-CD4AAA79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98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F5A7A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F5A7A"/>
                </a:solidFill>
                <a:latin typeface="Aptos Display"/>
                <a:ea typeface="Aptos Display"/>
                <a:cs typeface="Aptos Display"/>
              </a:rPr>
              <a:t>production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C8AD27-18C6-4675-A7DE-83632274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911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ADB"/>
          </a:solidFill>
          <a:ln xmlns:a="http://schemas.openxmlformats.org/drawingml/2006/main" w="9525">
            <a:solidFill>
              <a:srgbClr val="4B6F4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FD6AA3-0369-412D-B966-1429BC4D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5777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B6F43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4B6F43"/>
                </a:solidFill>
                <a:latin typeface="Aptos Display"/>
                <a:ea typeface="Aptos Display"/>
                <a:cs typeface="Aptos Display"/>
              </a:rPr>
              <a:t>quality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49016A-E902-4785-A2A9-2B017C4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911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DADC"/>
          </a:solidFill>
          <a:ln xmlns:a="http://schemas.openxmlformats.org/drawingml/2006/main" w="9525">
            <a:solidFill>
              <a:srgbClr val="A53A4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E756CD-359B-4C76-9BAE-A92B7B52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5777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A53A44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A53A44"/>
                </a:solidFill>
                <a:latin typeface="Aptos Display"/>
                <a:ea typeface="Aptos Display"/>
                <a:cs typeface="Aptos Display"/>
              </a:rPr>
              <a:t>market scale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F18EE2-9A20-47C2-8EFA-195E71AF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2038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EADB"/>
          </a:solidFill>
          <a:ln xmlns:a="http://schemas.openxmlformats.org/drawingml/2006/main" w="11430">
            <a:solidFill>
              <a:srgbClr val="4B6F4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B78622-8468-4001-A4A1-306805DC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F43"/>
          </a:solidFill>
          <a:ln xmlns:a="http://schemas.openxmlformats.org/drawingml/2006/main" w="0">
            <a:solidFill>
              <a:srgbClr val="4B6F4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975989-0ECB-4BEB-82A7-94A67914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3407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4B6F43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4B6F43"/>
                </a:solidFill>
                <a:latin typeface="Aptos Display"/>
                <a:ea typeface="Aptos Display"/>
                <a:cs typeface="Aptos Display"/>
              </a:rPr>
              <a:t>Livelihoods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3A4DB6-E8EE-4D9C-B29E-99A6F715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531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A625D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A625D"/>
                </a:solidFill>
                <a:latin typeface="Aptos"/>
                <a:ea typeface="Aptos"/>
                <a:cs typeface="Aptos"/>
              </a:rPr>
              <a:t>Sustainable income for women.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09B145-AF79-4BDC-A1D9-2B5EFBA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91200"/>
            <a:ext cx="2038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4BE"/>
          </a:solidFill>
          <a:ln xmlns:a="http://schemas.openxmlformats.org/drawingml/2006/main" w="11430">
            <a:solidFill>
              <a:srgbClr val="AD762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638941-8768-4875-8C19-D7C0816F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9120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7629"/>
          </a:solidFill>
          <a:ln xmlns:a="http://schemas.openxmlformats.org/drawingml/2006/main" w="0">
            <a:solidFill>
              <a:srgbClr val="AD762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1ED121-67B9-41B5-9EE7-8770DDB2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3407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AD7629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AD7629"/>
                </a:solidFill>
                <a:latin typeface="Aptos Display"/>
                <a:ea typeface="Aptos Display"/>
                <a:cs typeface="Aptos Display"/>
              </a:rPr>
              <a:t>Craft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7F4AC8-1649-4A38-800E-587A17FD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1531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A625D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A625D"/>
                </a:solidFill>
                <a:latin typeface="Aptos"/>
                <a:ea typeface="Aptos"/>
                <a:cs typeface="Aptos"/>
              </a:rPr>
              <a:t>Traditional craft stays alive.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8ECAE6-CBA3-4126-8CF2-591061F4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91200"/>
            <a:ext cx="2038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11430">
            <a:solidFill>
              <a:srgbClr val="1F5A7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37EADB-A0A2-4E0F-B9A0-655E0266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9120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A7A"/>
          </a:solidFill>
          <a:ln xmlns:a="http://schemas.openxmlformats.org/drawingml/2006/main" w="0">
            <a:solidFill>
              <a:srgbClr val="1F5A7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FCED6F-4A9A-4584-88AE-1E4C6586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3407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5A7A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F5A7A"/>
                </a:solidFill>
                <a:latin typeface="Aptos Display"/>
                <a:ea typeface="Aptos Display"/>
                <a:cs typeface="Aptos Display"/>
              </a:rPr>
              <a:t>Planet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9C3AFB-9755-4142-886B-D1FBD13E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1531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A625D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A625D"/>
                </a:solidFill>
                <a:latin typeface="Aptos"/>
                <a:ea typeface="Aptos"/>
                <a:cs typeface="Aptos"/>
              </a:rPr>
              <a:t>Waste materials are upcycled.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37806B-1590-4226-82DC-7994324A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791200"/>
            <a:ext cx="2038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DADC"/>
          </a:solidFill>
          <a:ln xmlns:a="http://schemas.openxmlformats.org/drawingml/2006/main" w="11430">
            <a:solidFill>
              <a:srgbClr val="A53A4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090F2C-A4F1-4D0C-94EA-7D7C3FF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79120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A44"/>
          </a:solidFill>
          <a:ln xmlns:a="http://schemas.openxmlformats.org/drawingml/2006/main" w="0">
            <a:solidFill>
              <a:srgbClr val="A53A4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BC07F1-D49D-4660-B802-4D75843D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93407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A53A44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A53A44"/>
                </a:solidFill>
                <a:latin typeface="Aptos Display"/>
                <a:ea typeface="Aptos Display"/>
                <a:cs typeface="Aptos Display"/>
              </a:rPr>
              <a:t>Enterprise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18F2CD-F8DB-4125-BDE2-DDE94D4D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1531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A625D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A625D"/>
                </a:solidFill>
                <a:latin typeface="Aptos"/>
                <a:ea typeface="Aptos"/>
                <a:cs typeface="Aptos"/>
              </a:rPr>
              <a:t>Commercial scale funds impact.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6172D3-9212-433C-A905-BBCE8FC0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060535-561E-4C12-A181-4245F1C6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47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7A817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7A817B"/>
                </a:solidFill>
                <a:latin typeface="Aptos"/>
                <a:ea typeface="Aptos"/>
                <a:cs typeface="Aptos"/>
              </a:rPr>
              <a:t>Fresh one-page composition from user-provided model. No previous slide used.</a:t>
            </a:r>
          </a:p>
        </p:txBody>
      </p:sp>
    </p:spTree>
    <p:extLst>
      <p:ext uri="{BB962C8B-B14F-4D97-AF65-F5344CB8AC3E}">
        <p14:creationId xmlns:p14="http://schemas.microsoft.com/office/powerpoint/2010/main" val="1687700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2026-06-04T19:59:44.3220000Z</dcterms:created>
  <dcterms:modified xsi:type="dcterms:W3CDTF">2026-06-04T19:59:44.3220000Z</dcterms:modified>
</coreProperties>
</file>