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2a8c39bcb64fb8" /><Relationship Type="http://schemas.openxmlformats.org/officeDocument/2006/relationships/extended-properties" Target="/docProps/app.xml" Id="R236d72f1c3514bef" /><Relationship Type="http://schemas.openxmlformats.org/officeDocument/2006/relationships/officeDocument" Target="/ppt/presentation.xml" Id="Rc7ecfb4d4573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92dfc6360478a"/>
  </p:sldMasterIdLst>
  <p:notesMasterIdLst>
    <p:notesMasterId xmlns:r="http://schemas.openxmlformats.org/officeDocument/2006/relationships" r:id="R992e5a14690b4e40"/>
  </p:notesMasterIdLst>
  <p:sldIdLst>
    <p:sldId xmlns:r="http://schemas.openxmlformats.org/officeDocument/2006/relationships" id="256" r:id="R5d0dfce64c5346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92dfc6360478a" /><Relationship Type="http://schemas.openxmlformats.org/officeDocument/2006/relationships/theme" Target="/ppt/theme/theme1.xml" Id="Rb4b24ae98d2f4df6" /><Relationship Type="http://schemas.openxmlformats.org/officeDocument/2006/relationships/notesMaster" Target="/ppt/notesMasters/notesMaster1.xml" Id="R992e5a14690b4e40" /><Relationship Type="http://schemas.openxmlformats.org/officeDocument/2006/relationships/presProps" Target="/ppt/presProps.xml" Id="R9a7c90f9a4e641f5" /><Relationship Type="http://schemas.openxmlformats.org/officeDocument/2006/relationships/viewProps" Target="/ppt/viewProps.xml" Id="Rb31d954209d24d7f" /><Relationship Type="http://schemas.openxmlformats.org/officeDocument/2006/relationships/tableStyles" Target="/ppt/tableStyles.xml" Id="R13889aaab92a45c8" /><Relationship Type="http://schemas.openxmlformats.org/officeDocument/2006/relationships/slide" Target="/ppt/slides/slide1.xml" Id="R5d0dfce64c5346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419aa6824f46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91f021802b4d48" /><Relationship Type="http://schemas.openxmlformats.org/officeDocument/2006/relationships/notesMaster" Target="/ppt/notesMasters/notesMaster1.xml" Id="R109c0fa8fcea4e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c3989265240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b22f16b79534fe8" /><Relationship Type="http://schemas.openxmlformats.org/officeDocument/2006/relationships/slideLayout" Target="/ppt/slideLayouts/slideLayout2.xml" Id="R187b390b9032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b390b9032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4f4af92aab41e9" /><Relationship Type="http://schemas.openxmlformats.org/officeDocument/2006/relationships/notesSlide" Target="/ppt/notesSlides/notesSlide1.xml" Id="Rffefd1a8e87d4c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EF90B-EC59-4C62-8D7E-08823D6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Supplier onboarding &amp; compliance: competitor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191A6-192A-44F3-AA4A-3BCA03D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2x2 is qualitative positioning; market proxy uses the available Vendor Onboarding &amp; Information Management module split.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F1A1-B072-4A2C-AD3C-1E5977D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334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4F288-0D6B-481F-9DCC-4377FF3E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714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2FDCF-9E31-482A-9D59-7244D04A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334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9716E-B727-494E-964F-2789EB63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Enterprise onboarding workflow platforms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0079-A15D-4666-A5CE-E7C061D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Onboarding + compliance platforms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6498F-CAD9-452B-913C-7BABEC3E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Finance / legacy vendor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77773-AFF6-4AEA-B256-31F7E8F1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38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Specialist compliance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BB2B5-1C5D-4B67-927C-8FA94EB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55" y="201549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3276E-0041-4538-88E5-0D67D5C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30" y="19678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SAP Ariba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426D9-AE68-4D51-8563-4D6963B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30" y="211074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SAP total rev: EUR 36.8B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BD217-CB0D-462B-9D13-9345C6A7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364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026A0-5E8C-4CD2-83F1-68CE3460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1788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Coupa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B1D07-36DB-4234-A91D-FD052DD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193167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$725M FY22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00CE8-3531-4F92-9F15-DC02140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8" y="26422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7CFC2-C7F0-480F-9E5E-52FCB9F0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26422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Ivalua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C930C-D0A5-4D4B-AA7D-B689FD31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9108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C81B9-F225-41FC-B99A-9EE58B2F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29108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JAGGAER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385B8-B25F-4F10-9B70-D3E9AAF4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99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A7669-C6D8-4FB1-9CF7-0FDD7C99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8991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GEP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FE173-2128-4C5F-A04F-2C41403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" y="282130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5BDFA-D518-4F0A-B85D-2B2440E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" y="282130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22C59-65D4-4320-A989-A472DC7B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22421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BD6BA-7D55-4461-8794-C5162F4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" y="322421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Zycus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0BAF4-F141-440C-BC73-FC7695EF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278" y="24631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87494-A6DD-4850-BC17-A317E04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53" y="24631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Zip (SUP)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6DF0D-A1AA-4117-861D-92570541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32886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F8818-6A3E-4DDB-8F67-0C817593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" y="232886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Levelpath (SUP)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6EA21-28E0-43F0-A7BE-A139161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305" y="273177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BBAC5-E015-40C9-820A-522D56B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73177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ORO Labs (SUP)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AD3F50-D27B-43AB-B062-A4A78D6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648" y="295560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C0F4F-FF93-47B0-9517-30E55B2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295560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Tonkean (SUP)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C497E-163B-49BF-BE16-0A71D10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201549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5943A-9D43-420C-834E-40A25AD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898" y="19678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TraceGains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2CF615-0103-4561-A68B-BEBCC0E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898" y="211074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F11FD-BDC5-4DDB-AC73-094CD0E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24631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6F072-121A-4080-91B7-7EAF44AE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4155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Trustwell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2E3936-F839-474A-9072-345C05CA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55841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FA29EF-6FA9-412D-9F35-6EC1F29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10" y="286607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BEE99E-F711-4959-BE54-9DE17FC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185" y="286607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HICX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710A0-C72D-4E42-B108-EB5EF92C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26422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A688C-3479-4922-B429-A796A30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422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Certa (SUP)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9B6D99-4600-4BB5-AE3D-12507A5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195" y="407479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AB1950-9E78-4AA0-9E53-C1A8C62D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4074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Basware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B82F3E-D73D-4DA0-9D9C-2EF6205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593" y="44329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A1D8C2-C05E-4364-84C9-DCE863BF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568" y="44329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Medius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232AF3-6CF7-4828-8118-96B7097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82" y="4567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CCE877-0341-47F3-BF24-C0625E8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" y="456723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Esker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001D96-5A67-4D2F-9FBD-D34ADDA9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8806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DF154A-76B9-4AB5-B061-9E3C1987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488061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Tradeshift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A5FE33-8314-4C9E-8CD9-06F1CD0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" y="4791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9AA459-F8D6-477D-BB0F-2A0B446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" y="47910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Proactis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221F98-004A-4CF4-8330-21951BB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94049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6659F6-8E0C-4F4E-A900-7741C47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" y="394049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SAP SRM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592D65-445A-4D75-83C6-0758CD97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373" y="407479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92619A-667D-4265-9084-A984FAC6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3" y="4074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PeopleSoft / EBS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41B9CA-5C8E-4863-B74C-D3B60C0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567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EAED09-8E6A-43D3-A20A-FD6B1D9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723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SafetyChain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100B6E-C20E-4078-A97F-DAAAC266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83584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8DEE6E-7285-4A1B-9B0E-BB9E2C0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483584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Specright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7B07B9-D6CA-4BE3-9699-04203A5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42538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2B70C8-D0BF-4C71-AF03-36CCFCE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062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Prewave (SUP)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A80F44-1A6A-43EF-BB91-E09DEE4A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34911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0EB4B6-A6C8-4046-821E-1022109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635" y="31670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71DB3C-5F85-4A11-8435-99C4A8A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385" y="3195638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NourishCo target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3A6C32-089E-4DBB-8B2C-F0965FD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385" y="3348038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supplier onboarding + compliance wedge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B5BEE0-4613-4C68-A6B9-5323A3C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Generic supplier onboarding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F11313-3302-4004-B883-0305DFF5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340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Compliance-depth onboarding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6AFF51-2A47-4378-A790-6B7FD0C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724025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End-to-end</a:t>
            </a:r>
          </a:p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CC3D24-0FD3-4C6D-8562-6572A07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38675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Point</a:t>
            </a:r>
          </a:p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5737E2-09C0-4152-A1B2-31C9061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01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Available market proxy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A55A70-A354-4000-8A60-6E019A49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Vendor Management Systems market, 2026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58F387-20C7-41E1-8EF6-0E57AFD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$11.51B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98F27D-7020-4F83-90DB-5D290BD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38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0C432C-39AC-4D49-9F85-1688D36F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Vendor Onboarding &amp; Information Management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A11F2C-99F3-47DC-A214-0901795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31.4% of VMS market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0D44C5-511D-4AF7-AD01-D77CFEDE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C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5C4A"/>
                </a:solidFill>
                <a:latin typeface="Aptos"/>
                <a:ea typeface="Aptos"/>
                <a:cs typeface="Aptos"/>
              </a:rPr>
              <a:t>~$3.61B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B62218-35AB-453D-9315-E919948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8098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Public reports do not disclose market share by these 2x2 quadrants; module split is used as the closest available proxy.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AE824E-CBC2-4E82-9419-F6B43D40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7860A4-7281-48F3-A59D-6DA7F48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43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(SUP) = newer startup-style entrant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953C11-063E-46F0-B0AD-3979968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Sources: Coherent Market Insights module split; company revenue labels shown only where public/defensible.</a:t>
            </a:r>
          </a:p>
        </p:txBody>
      </p:sp>
    </p:spTree>
    <p:extLst>
      <p:ext uri="{BB962C8B-B14F-4D97-AF65-F5344CB8AC3E}">
        <p14:creationId xmlns:p14="http://schemas.microsoft.com/office/powerpoint/2010/main" val="1481998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2026-05-26T21:13:38.4310000Z</dcterms:created>
  <dcterms:modified xsi:type="dcterms:W3CDTF">2026-05-26T21:13:38.4310000Z</dcterms:modified>
</coreProperties>
</file>